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" charset="1" panose="020B0004020202020204"/>
      <p:regular r:id="rId17"/>
    </p:embeddedFont>
    <p:embeddedFont>
      <p:font typeface="Aptos Bold" charset="1" panose="020B0004020202020204"/>
      <p:regular r:id="rId18"/>
    </p:embeddedFont>
    <p:embeddedFont>
      <p:font typeface="Times New Roman MT" charset="1" panose="02030502070405020303"/>
      <p:regular r:id="rId19"/>
    </p:embeddedFont>
    <p:embeddedFont>
      <p:font typeface="Times New Roman MT Bold" charset="1" panose="02030802070405020303"/>
      <p:regular r:id="rId20"/>
    </p:embeddedFont>
    <p:embeddedFont>
      <p:font typeface="DM Serif Display" charset="1" panose="00000000000000000000"/>
      <p:regular r:id="rId21"/>
    </p:embeddedFont>
    <p:embeddedFont>
      <p:font typeface="Arimo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https://www.overleaf.com/read/gybcknjhhrjx#5fa0de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https://github.com/DivyanshuSaini2112/Hand-Brain-AI-Stock-Assistant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https://python-yahoofinance.readthedocs.io/en/latest/api.html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4401879"/>
            <a:ext cx="13716000" cy="1699074"/>
            <a:chOff x="0" y="0"/>
            <a:chExt cx="18288000" cy="22654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265432"/>
            </a:xfrm>
            <a:custGeom>
              <a:avLst/>
              <a:gdLst/>
              <a:ahLst/>
              <a:cxnLst/>
              <a:rect r="r" b="b" t="t" l="l"/>
              <a:pathLst>
                <a:path h="226543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65432"/>
                  </a:lnTo>
                  <a:lnTo>
                    <a:pt x="0" y="2265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4775"/>
              <a:ext cx="18288000" cy="216065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Hand&amp;Brain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7556" y="7429811"/>
            <a:ext cx="467620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Submitted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Divyanshu Saini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23FE10CSE00278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04244" y="7419172"/>
            <a:ext cx="4676199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Supervised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 Ankit Shrivastava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51134" y="54058"/>
            <a:ext cx="6261058" cy="1834118"/>
            <a:chOff x="0" y="0"/>
            <a:chExt cx="8348078" cy="2445490"/>
          </a:xfrm>
        </p:grpSpPr>
        <p:sp>
          <p:nvSpPr>
            <p:cNvPr name="Freeform 8" id="8" descr="A black and white text  AI-generated content may be incorrect."/>
            <p:cNvSpPr/>
            <p:nvPr/>
          </p:nvSpPr>
          <p:spPr>
            <a:xfrm flipH="false" flipV="false" rot="0">
              <a:off x="0" y="0"/>
              <a:ext cx="8348091" cy="2445512"/>
            </a:xfrm>
            <a:custGeom>
              <a:avLst/>
              <a:gdLst/>
              <a:ahLst/>
              <a:cxnLst/>
              <a:rect r="r" b="b" t="t" l="l"/>
              <a:pathLst>
                <a:path h="2445512" w="8348091">
                  <a:moveTo>
                    <a:pt x="0" y="0"/>
                  </a:moveTo>
                  <a:lnTo>
                    <a:pt x="8348091" y="0"/>
                  </a:lnTo>
                  <a:lnTo>
                    <a:pt x="8348091" y="2445512"/>
                  </a:lnTo>
                  <a:lnTo>
                    <a:pt x="0" y="244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91313" y="1888176"/>
            <a:ext cx="13716000" cy="1668414"/>
            <a:chOff x="0" y="0"/>
            <a:chExt cx="18288000" cy="22245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224552"/>
            </a:xfrm>
            <a:custGeom>
              <a:avLst/>
              <a:gdLst/>
              <a:ahLst/>
              <a:cxnLst/>
              <a:rect r="r" b="b" t="t" l="l"/>
              <a:pathLst>
                <a:path h="22245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24552"/>
                  </a:lnTo>
                  <a:lnTo>
                    <a:pt x="0" y="22245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8288000" cy="231027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School of Computer Science and Engineering</a:t>
              </a:r>
            </a:p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Department of Computer Science and Engineering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" y="9717298"/>
            <a:ext cx="18287998" cy="754857"/>
            <a:chOff x="0" y="0"/>
            <a:chExt cx="24383998" cy="100647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1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990600"/>
            <a:ext cx="3822789" cy="2461915"/>
            <a:chOff x="0" y="0"/>
            <a:chExt cx="5097052" cy="328255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62400"/>
              <a:ext cx="5097052" cy="2920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Table of Contents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50800"/>
              <a:ext cx="916433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" y="9717298"/>
            <a:ext cx="18287998" cy="754857"/>
            <a:chOff x="0" y="0"/>
            <a:chExt cx="24383998" cy="100647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2</a:t>
                </a: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83265" y="3500140"/>
            <a:ext cx="6986031" cy="458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Introduction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Literature Review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Problem Statement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Objectives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Proposed Methodology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Result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3</a:t>
                </a: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31842"/>
            <a:ext cx="10616927" cy="1328440"/>
            <a:chOff x="0" y="0"/>
            <a:chExt cx="14155903" cy="1771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62400"/>
              <a:ext cx="14155903" cy="14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Introduction - The Challenge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50800"/>
              <a:ext cx="2545183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2566267"/>
            <a:ext cx="8091960" cy="3408011"/>
            <a:chOff x="0" y="0"/>
            <a:chExt cx="10789280" cy="454401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3342126" y="0"/>
              <a:ext cx="3887589" cy="1747455"/>
              <a:chOff x="0" y="0"/>
              <a:chExt cx="959653" cy="43136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59653" cy="431360"/>
              </a:xfrm>
              <a:custGeom>
                <a:avLst/>
                <a:gdLst/>
                <a:ahLst/>
                <a:cxnLst/>
                <a:rect r="r" b="b" t="t" l="l"/>
                <a:pathLst>
                  <a:path h="431360" w="959653">
                    <a:moveTo>
                      <a:pt x="135418" y="0"/>
                    </a:moveTo>
                    <a:lnTo>
                      <a:pt x="824235" y="0"/>
                    </a:lnTo>
                    <a:cubicBezTo>
                      <a:pt x="899024" y="0"/>
                      <a:pt x="959653" y="60629"/>
                      <a:pt x="959653" y="135418"/>
                    </a:cubicBezTo>
                    <a:lnTo>
                      <a:pt x="959653" y="295942"/>
                    </a:lnTo>
                    <a:cubicBezTo>
                      <a:pt x="959653" y="370731"/>
                      <a:pt x="899024" y="431360"/>
                      <a:pt x="824235" y="431360"/>
                    </a:cubicBezTo>
                    <a:lnTo>
                      <a:pt x="135418" y="431360"/>
                    </a:lnTo>
                    <a:cubicBezTo>
                      <a:pt x="60629" y="431360"/>
                      <a:pt x="0" y="370731"/>
                      <a:pt x="0" y="295942"/>
                    </a:cubicBezTo>
                    <a:lnTo>
                      <a:pt x="0" y="135418"/>
                    </a:lnTo>
                    <a:cubicBezTo>
                      <a:pt x="0" y="60629"/>
                      <a:pt x="60629" y="0"/>
                      <a:pt x="135418" y="0"/>
                    </a:cubicBezTo>
                    <a:close/>
                  </a:path>
                </a:pathLst>
              </a:custGeom>
              <a:solidFill>
                <a:srgbClr val="00356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959653" cy="450410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759"/>
                  </a:lnSpc>
                </a:pPr>
                <a:r>
                  <a:rPr lang="en-US" b="true" sz="2299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Challenges</a:t>
                </a:r>
              </a:p>
            </p:txBody>
          </p:sp>
        </p:grpSp>
        <p:sp>
          <p:nvSpPr>
            <p:cNvPr name="AutoShape 20" id="20"/>
            <p:cNvSpPr/>
            <p:nvPr/>
          </p:nvSpPr>
          <p:spPr>
            <a:xfrm flipH="true">
              <a:off x="5285920" y="1747455"/>
              <a:ext cx="0" cy="1763718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21" id="21"/>
            <p:cNvGrpSpPr/>
            <p:nvPr/>
          </p:nvGrpSpPr>
          <p:grpSpPr>
            <a:xfrm rot="0">
              <a:off x="3795505" y="3511172"/>
              <a:ext cx="2883651" cy="1032842"/>
              <a:chOff x="0" y="0"/>
              <a:chExt cx="711831" cy="25495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90BE6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Limited Actionability</a:t>
                </a:r>
              </a:p>
            </p:txBody>
          </p:sp>
        </p:grpSp>
        <p:sp>
          <p:nvSpPr>
            <p:cNvPr name="AutoShape 24" id="24"/>
            <p:cNvSpPr/>
            <p:nvPr/>
          </p:nvSpPr>
          <p:spPr>
            <a:xfrm>
              <a:off x="1441826" y="2431005"/>
              <a:ext cx="7846055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1441826" y="2431005"/>
              <a:ext cx="0" cy="1010064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0" y="3441069"/>
              <a:ext cx="2883651" cy="1032842"/>
              <a:chOff x="0" y="0"/>
              <a:chExt cx="711831" cy="25495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00B4D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 Generic Approaches</a:t>
                </a:r>
              </a:p>
            </p:txBody>
          </p:sp>
        </p:grpSp>
        <p:sp>
          <p:nvSpPr>
            <p:cNvPr name="AutoShape 29" id="29"/>
            <p:cNvSpPr/>
            <p:nvPr/>
          </p:nvSpPr>
          <p:spPr>
            <a:xfrm>
              <a:off x="9287881" y="2388409"/>
              <a:ext cx="0" cy="1122764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30" id="30"/>
            <p:cNvGrpSpPr/>
            <p:nvPr/>
          </p:nvGrpSpPr>
          <p:grpSpPr>
            <a:xfrm rot="0">
              <a:off x="7905628" y="3494722"/>
              <a:ext cx="2883651" cy="1032842"/>
              <a:chOff x="0" y="0"/>
              <a:chExt cx="711831" cy="25495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Personalization Gap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9624283" y="2566267"/>
            <a:ext cx="8535926" cy="5341915"/>
            <a:chOff x="0" y="0"/>
            <a:chExt cx="11381235" cy="712255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1381235" cy="7122554"/>
              <a:chOff x="0" y="0"/>
              <a:chExt cx="2248145" cy="140692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48145" cy="1406924"/>
              </a:xfrm>
              <a:custGeom>
                <a:avLst/>
                <a:gdLst/>
                <a:ahLst/>
                <a:cxnLst/>
                <a:rect r="r" b="b" t="t" l="l"/>
                <a:pathLst>
                  <a:path h="1406924" w="2248145">
                    <a:moveTo>
                      <a:pt x="46256" y="0"/>
                    </a:moveTo>
                    <a:lnTo>
                      <a:pt x="2201889" y="0"/>
                    </a:lnTo>
                    <a:cubicBezTo>
                      <a:pt x="2227436" y="0"/>
                      <a:pt x="2248145" y="20710"/>
                      <a:pt x="2248145" y="46256"/>
                    </a:cubicBezTo>
                    <a:lnTo>
                      <a:pt x="2248145" y="1360668"/>
                    </a:lnTo>
                    <a:cubicBezTo>
                      <a:pt x="2248145" y="1386215"/>
                      <a:pt x="2227436" y="1406924"/>
                      <a:pt x="2201889" y="1406924"/>
                    </a:cubicBezTo>
                    <a:lnTo>
                      <a:pt x="46256" y="1406924"/>
                    </a:lnTo>
                    <a:cubicBezTo>
                      <a:pt x="20710" y="1406924"/>
                      <a:pt x="0" y="1386215"/>
                      <a:pt x="0" y="1360668"/>
                    </a:cubicBezTo>
                    <a:lnTo>
                      <a:pt x="0" y="46256"/>
                    </a:lnTo>
                    <a:cubicBezTo>
                      <a:pt x="0" y="20710"/>
                      <a:pt x="20710" y="0"/>
                      <a:pt x="46256" y="0"/>
                    </a:cubicBezTo>
                    <a:close/>
                  </a:path>
                </a:pathLst>
              </a:custGeom>
              <a:solidFill>
                <a:srgbClr val="E3F2F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2248145" cy="14164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4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455690" y="224611"/>
              <a:ext cx="10925546" cy="6305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08"/>
                </a:lnSpc>
              </a:pPr>
              <a:r>
                <a:rPr lang="en-US" sz="2423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🔹Benefits Of The Solution</a:t>
              </a:r>
            </a:p>
            <a:p>
              <a:pPr algn="just">
                <a:lnSpc>
                  <a:spcPts val="2908"/>
                </a:lnSpc>
              </a:pPr>
            </a:p>
            <a:p>
              <a:pPr algn="just">
                <a:lnSpc>
                  <a:spcPts val="2428"/>
                </a:lnSpc>
              </a:pPr>
              <a:r>
                <a:rPr lang="en-US" b="true" sz="2023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Gener</a:t>
              </a:r>
              <a:r>
                <a:rPr lang="en-US" b="true" sz="2023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ic Approaches:</a:t>
              </a:r>
            </a:p>
            <a:p>
              <a:pPr algn="just" marL="436966" indent="-218483" lvl="1">
                <a:lnSpc>
                  <a:spcPts val="2428"/>
                </a:lnSpc>
                <a:buFont typeface="Arial"/>
                <a:buChar char="•"/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Most retail investors use generic tools that lack personal context.</a:t>
              </a:r>
            </a:p>
            <a:p>
              <a:pPr algn="just" marL="436966" indent="-218483" lvl="1">
                <a:lnSpc>
                  <a:spcPts val="2428"/>
                </a:lnSpc>
                <a:buFont typeface="Arial"/>
                <a:buChar char="•"/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These tools often ignore individual risk assessment.</a:t>
              </a:r>
            </a:p>
            <a:p>
              <a:pPr algn="just">
                <a:lnSpc>
                  <a:spcPts val="2428"/>
                </a:lnSpc>
              </a:pPr>
            </a:p>
            <a:p>
              <a:pPr algn="just">
                <a:lnSpc>
                  <a:spcPts val="2428"/>
                </a:lnSpc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</a:t>
              </a:r>
              <a:r>
                <a:rPr lang="en-US" b="true" sz="2023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Limited A</a:t>
              </a:r>
              <a:r>
                <a:rPr lang="en-US" b="true" sz="2023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ctionability:</a:t>
              </a:r>
            </a:p>
            <a:p>
              <a:pPr algn="just" marL="436966" indent="-218483" lvl="1">
                <a:lnSpc>
                  <a:spcPts val="2428"/>
                </a:lnSpc>
                <a:buFont typeface="Arial"/>
                <a:buChar char="•"/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Existing models primarily focus on predicting price movements.</a:t>
              </a:r>
            </a:p>
            <a:p>
              <a:pPr algn="just" marL="436966" indent="-218483" lvl="1">
                <a:lnSpc>
                  <a:spcPts val="2428"/>
                </a:lnSpc>
                <a:buFont typeface="Arial"/>
                <a:buChar char="•"/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They often fail to provide personalized, actionable trading advice.</a:t>
              </a:r>
            </a:p>
            <a:p>
              <a:pPr algn="just" marL="436966" indent="-218483" lvl="1">
                <a:lnSpc>
                  <a:spcPts val="2428"/>
                </a:lnSpc>
                <a:buFont typeface="Arial"/>
                <a:buChar char="•"/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This results in a lack of customized trading decisions.</a:t>
              </a:r>
            </a:p>
            <a:p>
              <a:pPr algn="just">
                <a:lnSpc>
                  <a:spcPts val="2428"/>
                </a:lnSpc>
              </a:pPr>
            </a:p>
            <a:p>
              <a:pPr algn="just">
                <a:lnSpc>
                  <a:spcPts val="2428"/>
                </a:lnSpc>
              </a:pPr>
              <a:r>
                <a:rPr lang="en-US" b="true" sz="2023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Perso</a:t>
              </a:r>
              <a:r>
                <a:rPr lang="en-US" b="true" sz="2023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nalizati</a:t>
              </a:r>
              <a:r>
                <a:rPr lang="en-US" b="true" sz="2023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on Gap:</a:t>
              </a:r>
            </a:p>
            <a:p>
              <a:pPr algn="just" marL="436966" indent="-218483" lvl="1">
                <a:lnSpc>
                  <a:spcPts val="2428"/>
                </a:lnSpc>
                <a:buFont typeface="Arial"/>
                <a:buChar char="•"/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Current systems overlook user-specific factors like investment capital.</a:t>
              </a:r>
            </a:p>
            <a:p>
              <a:pPr algn="just" marL="436966" indent="-218483" lvl="1">
                <a:lnSpc>
                  <a:spcPts val="2428"/>
                </a:lnSpc>
                <a:buFont typeface="Arial"/>
                <a:buChar char="•"/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They disregard individual risk tolerance.</a:t>
              </a:r>
            </a:p>
            <a:p>
              <a:pPr algn="just" marL="436966" indent="-218483" lvl="1">
                <a:lnSpc>
                  <a:spcPts val="2428"/>
                </a:lnSpc>
                <a:buFont typeface="Arial"/>
                <a:buChar char="•"/>
              </a:pPr>
              <a:r>
                <a:rPr lang="en-US" sz="2023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The investment horizon of the user is also frequently ignored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5224" y="6157160"/>
            <a:ext cx="9262042" cy="3261230"/>
            <a:chOff x="0" y="0"/>
            <a:chExt cx="12349389" cy="434830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1901355" cy="4348307"/>
              <a:chOff x="0" y="0"/>
              <a:chExt cx="2350885" cy="85892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350885" cy="858925"/>
              </a:xfrm>
              <a:custGeom>
                <a:avLst/>
                <a:gdLst/>
                <a:ahLst/>
                <a:cxnLst/>
                <a:rect r="r" b="b" t="t" l="l"/>
                <a:pathLst>
                  <a:path h="858925" w="2350885">
                    <a:moveTo>
                      <a:pt x="44235" y="0"/>
                    </a:moveTo>
                    <a:lnTo>
                      <a:pt x="2306650" y="0"/>
                    </a:lnTo>
                    <a:cubicBezTo>
                      <a:pt x="2318382" y="0"/>
                      <a:pt x="2329633" y="4660"/>
                      <a:pt x="2337929" y="12956"/>
                    </a:cubicBezTo>
                    <a:cubicBezTo>
                      <a:pt x="2346225" y="21252"/>
                      <a:pt x="2350885" y="32503"/>
                      <a:pt x="2350885" y="44235"/>
                    </a:cubicBezTo>
                    <a:lnTo>
                      <a:pt x="2350885" y="814690"/>
                    </a:lnTo>
                    <a:cubicBezTo>
                      <a:pt x="2350885" y="839120"/>
                      <a:pt x="2331081" y="858925"/>
                      <a:pt x="2306650" y="858925"/>
                    </a:cubicBezTo>
                    <a:lnTo>
                      <a:pt x="44235" y="858925"/>
                    </a:lnTo>
                    <a:cubicBezTo>
                      <a:pt x="19804" y="858925"/>
                      <a:pt x="0" y="839120"/>
                      <a:pt x="0" y="814690"/>
                    </a:cubicBezTo>
                    <a:lnTo>
                      <a:pt x="0" y="44235"/>
                    </a:lnTo>
                    <a:cubicBezTo>
                      <a:pt x="0" y="19804"/>
                      <a:pt x="19804" y="0"/>
                      <a:pt x="44235" y="0"/>
                    </a:cubicBezTo>
                    <a:close/>
                  </a:path>
                </a:pathLst>
              </a:custGeom>
              <a:solidFill>
                <a:srgbClr val="EBF5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2350885" cy="868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4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223982"/>
              <a:ext cx="12349389" cy="3705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475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🔹</a:t>
              </a:r>
              <a:r>
                <a:rPr lang="en-US" b="true" sz="2475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Potential Impact on Target Audience</a:t>
              </a:r>
            </a:p>
            <a:p>
              <a:pPr algn="l">
                <a:lnSpc>
                  <a:spcPts val="3847"/>
                </a:lnSpc>
                <a:spcBef>
                  <a:spcPct val="0"/>
                </a:spcBef>
              </a:pPr>
            </a:p>
            <a:p>
              <a:pPr algn="l" marL="446111" indent="-223056" lvl="1">
                <a:lnSpc>
                  <a:spcPts val="2479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Our Aim:</a:t>
              </a:r>
              <a:r>
                <a:rPr lang="en-US" sz="206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To design and develop Hand&amp;Brain, a personalized stock trading assistant.</a:t>
              </a:r>
            </a:p>
            <a:p>
              <a:pPr algn="l" marL="446111" indent="-223056" lvl="1">
                <a:lnSpc>
                  <a:spcPts val="2479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Core Idea: </a:t>
              </a:r>
              <a:r>
                <a:rPr lang="en-US" sz="206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Merge the predictive power of deep learning models with user-specific financial profiles.</a:t>
              </a:r>
            </a:p>
            <a:p>
              <a:pPr algn="l" marL="446111" indent="-223056" lvl="1">
                <a:lnSpc>
                  <a:spcPts val="2479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The Goal: </a:t>
              </a:r>
              <a:r>
                <a:rPr lang="en-US" sz="206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Deliver actionable, customized, and risk-aware trading recommendations.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4</a:t>
                </a: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31842"/>
            <a:ext cx="7251805" cy="1328440"/>
            <a:chOff x="0" y="0"/>
            <a:chExt cx="9669074" cy="1771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62400"/>
              <a:ext cx="9669074" cy="14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Literature Review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50800"/>
              <a:ext cx="1738466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2020" y="2589351"/>
            <a:ext cx="8985165" cy="2750073"/>
            <a:chOff x="0" y="0"/>
            <a:chExt cx="11980220" cy="366676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1545579" cy="3666764"/>
              <a:chOff x="0" y="0"/>
              <a:chExt cx="2280608" cy="72429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80608" cy="724299"/>
              </a:xfrm>
              <a:custGeom>
                <a:avLst/>
                <a:gdLst/>
                <a:ahLst/>
                <a:cxnLst/>
                <a:rect r="r" b="b" t="t" l="l"/>
                <a:pathLst>
                  <a:path h="724299" w="2280608">
                    <a:moveTo>
                      <a:pt x="45598" y="0"/>
                    </a:moveTo>
                    <a:lnTo>
                      <a:pt x="2235011" y="0"/>
                    </a:lnTo>
                    <a:cubicBezTo>
                      <a:pt x="2260194" y="0"/>
                      <a:pt x="2280608" y="20415"/>
                      <a:pt x="2280608" y="45598"/>
                    </a:cubicBezTo>
                    <a:lnTo>
                      <a:pt x="2280608" y="678701"/>
                    </a:lnTo>
                    <a:cubicBezTo>
                      <a:pt x="2280608" y="690795"/>
                      <a:pt x="2275804" y="702393"/>
                      <a:pt x="2267253" y="710944"/>
                    </a:cubicBezTo>
                    <a:cubicBezTo>
                      <a:pt x="2258702" y="719495"/>
                      <a:pt x="2247104" y="724299"/>
                      <a:pt x="2235011" y="724299"/>
                    </a:cubicBezTo>
                    <a:lnTo>
                      <a:pt x="45598" y="724299"/>
                    </a:lnTo>
                    <a:cubicBezTo>
                      <a:pt x="20415" y="724299"/>
                      <a:pt x="0" y="703884"/>
                      <a:pt x="0" y="678701"/>
                    </a:cubicBezTo>
                    <a:lnTo>
                      <a:pt x="0" y="45598"/>
                    </a:lnTo>
                    <a:cubicBezTo>
                      <a:pt x="0" y="20415"/>
                      <a:pt x="20415" y="0"/>
                      <a:pt x="45598" y="0"/>
                    </a:cubicBezTo>
                    <a:close/>
                  </a:path>
                </a:pathLst>
              </a:custGeom>
              <a:solidFill>
                <a:srgbClr val="E8F5E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2280608" cy="733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223982"/>
              <a:ext cx="11980220" cy="286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475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🔹Li</a:t>
              </a:r>
              <a:r>
                <a:rPr lang="en-US" b="true" sz="2475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terature Review: Existing Models</a:t>
              </a:r>
            </a:p>
            <a:p>
              <a:pPr algn="l">
                <a:lnSpc>
                  <a:spcPts val="3847"/>
                </a:lnSpc>
                <a:spcBef>
                  <a:spcPct val="0"/>
                </a:spcBef>
              </a:pPr>
            </a:p>
            <a:p>
              <a:pPr algn="l" marL="446111" indent="-223056" lvl="1">
                <a:lnSpc>
                  <a:spcPts val="2479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Machine Learning: SVM, Random Forest, and XGBoost are effective for feature-driven classif</a:t>
              </a:r>
              <a:r>
                <a:rPr lang="en-US" b="true" sz="2066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ication tasks.</a:t>
              </a:r>
            </a:p>
            <a:p>
              <a:pPr algn="l" marL="446111" indent="-223056" lvl="1">
                <a:lnSpc>
                  <a:spcPts val="2479"/>
                </a:lnSpc>
                <a:buFont typeface="Arial"/>
                <a:buChar char="•"/>
              </a:pPr>
              <a:r>
                <a:rPr lang="en-US" b="true" sz="2066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Deep Learning: Models like LSTM, CNN, and Transformers excel at sequential data and time-series forecasting.</a:t>
              </a:r>
            </a:p>
          </p:txBody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9144000" y="2058677"/>
          <a:ext cx="8979255" cy="6495092"/>
        </p:xfrm>
        <a:graphic>
          <a:graphicData uri="http://schemas.openxmlformats.org/drawingml/2006/table">
            <a:tbl>
              <a:tblPr/>
              <a:tblGrid>
                <a:gridCol w="2586285"/>
                <a:gridCol w="2130990"/>
                <a:gridCol w="2130990"/>
                <a:gridCol w="2130990"/>
              </a:tblGrid>
              <a:tr h="16237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Strength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Reported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Remarks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6237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Sequential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~89%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Good for time series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37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CNN-LSTM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Combines Spatial &amp; Temporal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~92%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Best with RSI, MACD indicators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37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Transformer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Long-term Forecasting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~95%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High potential, but complex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2" id="22"/>
          <p:cNvGrpSpPr/>
          <p:nvPr/>
        </p:nvGrpSpPr>
        <p:grpSpPr>
          <a:xfrm rot="0">
            <a:off x="332406" y="6308644"/>
            <a:ext cx="8814779" cy="1685161"/>
            <a:chOff x="0" y="0"/>
            <a:chExt cx="11753039" cy="224688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1326640" cy="2246881"/>
              <a:chOff x="0" y="0"/>
              <a:chExt cx="2237361" cy="44382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37361" cy="443828"/>
              </a:xfrm>
              <a:custGeom>
                <a:avLst/>
                <a:gdLst/>
                <a:ahLst/>
                <a:cxnLst/>
                <a:rect r="r" b="b" t="t" l="l"/>
                <a:pathLst>
                  <a:path h="443828" w="2237361">
                    <a:moveTo>
                      <a:pt x="46479" y="0"/>
                    </a:moveTo>
                    <a:lnTo>
                      <a:pt x="2190882" y="0"/>
                    </a:lnTo>
                    <a:cubicBezTo>
                      <a:pt x="2203209" y="0"/>
                      <a:pt x="2215031" y="4897"/>
                      <a:pt x="2223748" y="13613"/>
                    </a:cubicBezTo>
                    <a:cubicBezTo>
                      <a:pt x="2232464" y="22330"/>
                      <a:pt x="2237361" y="34152"/>
                      <a:pt x="2237361" y="46479"/>
                    </a:cubicBezTo>
                    <a:lnTo>
                      <a:pt x="2237361" y="397349"/>
                    </a:lnTo>
                    <a:cubicBezTo>
                      <a:pt x="2237361" y="423019"/>
                      <a:pt x="2216552" y="443828"/>
                      <a:pt x="2190882" y="443828"/>
                    </a:cubicBezTo>
                    <a:lnTo>
                      <a:pt x="46479" y="443828"/>
                    </a:lnTo>
                    <a:cubicBezTo>
                      <a:pt x="20809" y="443828"/>
                      <a:pt x="0" y="423019"/>
                      <a:pt x="0" y="397349"/>
                    </a:cubicBezTo>
                    <a:lnTo>
                      <a:pt x="0" y="46479"/>
                    </a:lnTo>
                    <a:cubicBezTo>
                      <a:pt x="0" y="20809"/>
                      <a:pt x="20809" y="0"/>
                      <a:pt x="46479" y="0"/>
                    </a:cubicBezTo>
                    <a:close/>
                  </a:path>
                </a:pathLst>
              </a:custGeom>
              <a:solidFill>
                <a:srgbClr val="F3E5F5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2237361" cy="453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4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223982"/>
              <a:ext cx="11753039" cy="153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4463" indent="-267231" lvl="1">
                <a:lnSpc>
                  <a:spcPts val="2970"/>
                </a:lnSpc>
                <a:buFont typeface="Arial"/>
                <a:buChar char="•"/>
              </a:pPr>
              <a:r>
                <a:rPr lang="en-US" b="true" sz="2475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🔹Concl</a:t>
              </a:r>
              <a:r>
                <a:rPr lang="en-US" b="true" sz="2475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usion:</a:t>
              </a:r>
              <a:r>
                <a:rPr lang="en-US" sz="2475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T</a:t>
              </a:r>
              <a:r>
                <a:rPr lang="en-US" sz="2475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he CNN-LSTM model offers the best balance of accura</a:t>
              </a:r>
              <a:r>
                <a:rPr lang="en-US" sz="2475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cy, interpretability, and computational efficiency for this task.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709383" y="8924925"/>
            <a:ext cx="687560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You can see the full paper here 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4" tooltip="https://www.overleaf.com/read/gybcknjhhrjx#5fa0de"/>
              </a:rPr>
              <a:t>https://www.overleaf.com/read/gybcknjhhrjx#5fa0de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5</a:t>
                </a: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31842"/>
            <a:ext cx="7251805" cy="1328440"/>
            <a:chOff x="0" y="0"/>
            <a:chExt cx="9669074" cy="1771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62400"/>
              <a:ext cx="9669074" cy="14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Problem Statement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50800"/>
              <a:ext cx="1738466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92402" y="3755480"/>
            <a:ext cx="15903195" cy="2776039"/>
            <a:chOff x="0" y="0"/>
            <a:chExt cx="21204261" cy="370138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1204261" cy="3701385"/>
              <a:chOff x="0" y="0"/>
              <a:chExt cx="2385370" cy="41638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385370" cy="416387"/>
              </a:xfrm>
              <a:custGeom>
                <a:avLst/>
                <a:gdLst/>
                <a:ahLst/>
                <a:cxnLst/>
                <a:rect r="r" b="b" t="t" l="l"/>
                <a:pathLst>
                  <a:path h="416387" w="2385370">
                    <a:moveTo>
                      <a:pt x="26659" y="0"/>
                    </a:moveTo>
                    <a:lnTo>
                      <a:pt x="2358712" y="0"/>
                    </a:lnTo>
                    <a:cubicBezTo>
                      <a:pt x="2365782" y="0"/>
                      <a:pt x="2372563" y="2809"/>
                      <a:pt x="2377562" y="7808"/>
                    </a:cubicBezTo>
                    <a:cubicBezTo>
                      <a:pt x="2382562" y="12808"/>
                      <a:pt x="2385370" y="19588"/>
                      <a:pt x="2385370" y="26659"/>
                    </a:cubicBezTo>
                    <a:lnTo>
                      <a:pt x="2385370" y="389728"/>
                    </a:lnTo>
                    <a:cubicBezTo>
                      <a:pt x="2385370" y="396799"/>
                      <a:pt x="2382562" y="403579"/>
                      <a:pt x="2377562" y="408579"/>
                    </a:cubicBezTo>
                    <a:cubicBezTo>
                      <a:pt x="2372563" y="413578"/>
                      <a:pt x="2365782" y="416387"/>
                      <a:pt x="2358712" y="416387"/>
                    </a:cubicBezTo>
                    <a:lnTo>
                      <a:pt x="26659" y="416387"/>
                    </a:lnTo>
                    <a:cubicBezTo>
                      <a:pt x="19588" y="416387"/>
                      <a:pt x="12808" y="413578"/>
                      <a:pt x="7808" y="408579"/>
                    </a:cubicBezTo>
                    <a:cubicBezTo>
                      <a:pt x="2809" y="403579"/>
                      <a:pt x="0" y="396799"/>
                      <a:pt x="0" y="389728"/>
                    </a:cubicBezTo>
                    <a:lnTo>
                      <a:pt x="0" y="26659"/>
                    </a:lnTo>
                    <a:cubicBezTo>
                      <a:pt x="0" y="19588"/>
                      <a:pt x="2809" y="12808"/>
                      <a:pt x="7808" y="7808"/>
                    </a:cubicBezTo>
                    <a:cubicBezTo>
                      <a:pt x="12808" y="2809"/>
                      <a:pt x="19588" y="0"/>
                      <a:pt x="26659" y="0"/>
                    </a:cubicBezTo>
                    <a:close/>
                  </a:path>
                </a:pathLst>
              </a:custGeom>
              <a:solidFill>
                <a:srgbClr val="FFF6E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2385370" cy="425912"/>
              </a:xfrm>
              <a:prstGeom prst="rect">
                <a:avLst/>
              </a:prstGeom>
            </p:spPr>
            <p:txBody>
              <a:bodyPr anchor="ctr" rtlCol="false" tIns="83074" lIns="83074" bIns="83074" rIns="83074"/>
              <a:lstStyle/>
              <a:p>
                <a:pPr algn="ctr">
                  <a:lnSpc>
                    <a:spcPts val="2683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43935" y="391193"/>
              <a:ext cx="20637278" cy="2703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16"/>
                </a:lnSpc>
              </a:pPr>
              <a:r>
                <a:rPr lang="en-US" sz="434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Current stock prediction tools fail to provide personalized, risk-aware investment recommendations that are aligned with an individual investor's financial profile and goals.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6</a:t>
                </a: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31842"/>
            <a:ext cx="4759911" cy="1328440"/>
            <a:chOff x="0" y="0"/>
            <a:chExt cx="6346548" cy="1771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62400"/>
              <a:ext cx="6346548" cy="14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Objectives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50800"/>
              <a:ext cx="1141088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2500789"/>
            <a:ext cx="13073190" cy="7083210"/>
            <a:chOff x="0" y="0"/>
            <a:chExt cx="17430920" cy="944428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7430920" cy="8977125"/>
              <a:chOff x="0" y="0"/>
              <a:chExt cx="3443145" cy="177325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43145" cy="1773259"/>
              </a:xfrm>
              <a:custGeom>
                <a:avLst/>
                <a:gdLst/>
                <a:ahLst/>
                <a:cxnLst/>
                <a:rect r="r" b="b" t="t" l="l"/>
                <a:pathLst>
                  <a:path h="1773259" w="3443145">
                    <a:moveTo>
                      <a:pt x="30202" y="0"/>
                    </a:moveTo>
                    <a:lnTo>
                      <a:pt x="3412943" y="0"/>
                    </a:lnTo>
                    <a:cubicBezTo>
                      <a:pt x="3429623" y="0"/>
                      <a:pt x="3443145" y="13522"/>
                      <a:pt x="3443145" y="30202"/>
                    </a:cubicBezTo>
                    <a:lnTo>
                      <a:pt x="3443145" y="1743057"/>
                    </a:lnTo>
                    <a:cubicBezTo>
                      <a:pt x="3443145" y="1759737"/>
                      <a:pt x="3429623" y="1773259"/>
                      <a:pt x="3412943" y="1773259"/>
                    </a:cubicBezTo>
                    <a:lnTo>
                      <a:pt x="30202" y="1773259"/>
                    </a:lnTo>
                    <a:cubicBezTo>
                      <a:pt x="13522" y="1773259"/>
                      <a:pt x="0" y="1759737"/>
                      <a:pt x="0" y="1743057"/>
                    </a:cubicBezTo>
                    <a:lnTo>
                      <a:pt x="0" y="30202"/>
                    </a:lnTo>
                    <a:cubicBezTo>
                      <a:pt x="0" y="13522"/>
                      <a:pt x="13522" y="0"/>
                      <a:pt x="30202" y="0"/>
                    </a:cubicBezTo>
                    <a:close/>
                  </a:path>
                </a:pathLst>
              </a:custGeom>
              <a:solidFill>
                <a:srgbClr val="FFF5F7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3443145" cy="17827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59791" y="254267"/>
              <a:ext cx="15890211" cy="9190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62"/>
                </a:lnSpc>
              </a:pPr>
              <a:r>
                <a:rPr lang="en-US" sz="355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Project Objectives:-</a:t>
              </a:r>
            </a:p>
            <a:p>
              <a:pPr algn="just">
                <a:lnSpc>
                  <a:spcPts val="4262"/>
                </a:lnSpc>
              </a:pPr>
            </a:p>
            <a:p>
              <a:pPr algn="just" marL="766962" indent="-383481" lvl="1">
                <a:lnSpc>
                  <a:spcPts val="4262"/>
                </a:lnSpc>
                <a:spcBef>
                  <a:spcPct val="0"/>
                </a:spcBef>
                <a:buAutoNum type="arabicPeriod" startAt="1"/>
              </a:pPr>
              <a:r>
                <a:rPr lang="en-US" sz="355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 analyze and compare vari</a:t>
              </a:r>
              <a:r>
                <a:rPr lang="en-US" sz="355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ous ML/DL models for stock market forecasting.</a:t>
              </a:r>
            </a:p>
            <a:p>
              <a:pPr algn="just" marL="766962" indent="-383481" lvl="1">
                <a:lnSpc>
                  <a:spcPts val="4262"/>
                </a:lnSpc>
                <a:spcBef>
                  <a:spcPct val="0"/>
                </a:spcBef>
                <a:buAutoNum type="arabicPeriod" startAt="1"/>
              </a:pPr>
              <a:r>
                <a:rPr lang="en-US" sz="355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 develop a CNN-LSTM-based prediction model using technical indicators (RSI, MACD).</a:t>
              </a:r>
            </a:p>
            <a:p>
              <a:pPr algn="just" marL="766962" indent="-383481" lvl="1">
                <a:lnSpc>
                  <a:spcPts val="4262"/>
                </a:lnSpc>
                <a:spcBef>
                  <a:spcPct val="0"/>
                </a:spcBef>
                <a:buAutoNum type="arabicPeriod" startAt="1"/>
              </a:pPr>
              <a:r>
                <a:rPr lang="en-US" sz="355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 design a data pipeline for fetching and preprocessing live stock data from APIs.</a:t>
              </a:r>
            </a:p>
            <a:p>
              <a:pPr algn="just" marL="766962" indent="-383481" lvl="1">
                <a:lnSpc>
                  <a:spcPts val="4262"/>
                </a:lnSpc>
                <a:spcBef>
                  <a:spcPct val="0"/>
                </a:spcBef>
                <a:buAutoNum type="arabicPeriod" startAt="1"/>
              </a:pPr>
              <a:r>
                <a:rPr lang="en-US" sz="355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 predict next-month stock trends using 6 months of historical data.</a:t>
              </a:r>
            </a:p>
            <a:p>
              <a:pPr algn="just" marL="766962" indent="-383481" lvl="1">
                <a:lnSpc>
                  <a:spcPts val="4262"/>
                </a:lnSpc>
                <a:spcBef>
                  <a:spcPct val="0"/>
                </a:spcBef>
                <a:buAutoNum type="arabicPeriod" startAt="1"/>
              </a:pPr>
              <a:r>
                <a:rPr lang="en-US" sz="3552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 lay the groundwork for personalized recommendations based on user risk and capital.</a:t>
              </a:r>
            </a:p>
            <a:p>
              <a:pPr algn="l">
                <a:lnSpc>
                  <a:spcPts val="426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7</a:t>
                </a: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31842"/>
            <a:ext cx="8721384" cy="1328440"/>
            <a:chOff x="0" y="0"/>
            <a:chExt cx="11628512" cy="1771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62400"/>
              <a:ext cx="11628512" cy="14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Proposed Methodology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50800"/>
              <a:ext cx="2090767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2720895"/>
            <a:ext cx="8115300" cy="6069809"/>
            <a:chOff x="0" y="0"/>
            <a:chExt cx="10820400" cy="809307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820400" cy="8093079"/>
              <a:chOff x="0" y="0"/>
              <a:chExt cx="2825988" cy="211368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825988" cy="2113687"/>
              </a:xfrm>
              <a:custGeom>
                <a:avLst/>
                <a:gdLst/>
                <a:ahLst/>
                <a:cxnLst/>
                <a:rect r="r" b="b" t="t" l="l"/>
                <a:pathLst>
                  <a:path h="2113687" w="2825988">
                    <a:moveTo>
                      <a:pt x="36798" y="0"/>
                    </a:moveTo>
                    <a:lnTo>
                      <a:pt x="2789190" y="0"/>
                    </a:lnTo>
                    <a:cubicBezTo>
                      <a:pt x="2798949" y="0"/>
                      <a:pt x="2808309" y="3877"/>
                      <a:pt x="2815210" y="10778"/>
                    </a:cubicBezTo>
                    <a:cubicBezTo>
                      <a:pt x="2822111" y="17679"/>
                      <a:pt x="2825988" y="27038"/>
                      <a:pt x="2825988" y="36798"/>
                    </a:cubicBezTo>
                    <a:lnTo>
                      <a:pt x="2825988" y="2076889"/>
                    </a:lnTo>
                    <a:cubicBezTo>
                      <a:pt x="2825988" y="2086649"/>
                      <a:pt x="2822111" y="2096008"/>
                      <a:pt x="2815210" y="2102909"/>
                    </a:cubicBezTo>
                    <a:cubicBezTo>
                      <a:pt x="2808309" y="2109810"/>
                      <a:pt x="2798949" y="2113687"/>
                      <a:pt x="2789190" y="2113687"/>
                    </a:cubicBezTo>
                    <a:lnTo>
                      <a:pt x="36798" y="2113687"/>
                    </a:lnTo>
                    <a:cubicBezTo>
                      <a:pt x="27038" y="2113687"/>
                      <a:pt x="17679" y="2109810"/>
                      <a:pt x="10778" y="2102909"/>
                    </a:cubicBezTo>
                    <a:cubicBezTo>
                      <a:pt x="3877" y="2096008"/>
                      <a:pt x="0" y="2086649"/>
                      <a:pt x="0" y="2076889"/>
                    </a:cubicBezTo>
                    <a:lnTo>
                      <a:pt x="0" y="36798"/>
                    </a:lnTo>
                    <a:cubicBezTo>
                      <a:pt x="0" y="27038"/>
                      <a:pt x="3877" y="17679"/>
                      <a:pt x="10778" y="10778"/>
                    </a:cubicBezTo>
                    <a:cubicBezTo>
                      <a:pt x="17679" y="3877"/>
                      <a:pt x="27038" y="0"/>
                      <a:pt x="36798" y="0"/>
                    </a:cubicBezTo>
                    <a:close/>
                  </a:path>
                </a:pathLst>
              </a:custGeom>
              <a:solidFill>
                <a:srgbClr val="F2F4F7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2825988" cy="21232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85419" y="185586"/>
              <a:ext cx="9863991" cy="7524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0072" indent="-290036" lvl="1">
                <a:lnSpc>
                  <a:spcPts val="3224"/>
                </a:lnSpc>
                <a:buAutoNum type="arabicPeriod" startAt="1"/>
              </a:pPr>
              <a:r>
                <a:rPr lang="en-US" sz="268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Data Collection: </a:t>
              </a:r>
              <a:r>
                <a:rPr lang="en-US" sz="268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Fetch live stock data for Indian markets (.NS, .BO) using yfinance and Alpha Vantage APIs.</a:t>
              </a:r>
            </a:p>
            <a:p>
              <a:pPr algn="l" marL="580072" indent="-290036" lvl="1">
                <a:lnSpc>
                  <a:spcPts val="3224"/>
                </a:lnSpc>
                <a:buAutoNum type="arabicPeriod" startAt="1"/>
              </a:pPr>
              <a:r>
                <a:rPr lang="en-US" sz="268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Data Preprocessing: Clean data, handle missing values, and normalize prices.</a:t>
              </a:r>
            </a:p>
            <a:p>
              <a:pPr algn="l" marL="580072" indent="-290036" lvl="1">
                <a:lnSpc>
                  <a:spcPts val="3224"/>
                </a:lnSpc>
                <a:buAutoNum type="arabicPeriod" startAt="1"/>
              </a:pPr>
              <a:r>
                <a:rPr lang="en-US" sz="268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Generate technical indicators: RSI, MACD, Moving Averages, Bollinger Bands.</a:t>
              </a:r>
            </a:p>
            <a:p>
              <a:pPr algn="l" marL="580072" indent="-290036" lvl="1">
                <a:lnSpc>
                  <a:spcPts val="3224"/>
                </a:lnSpc>
                <a:buAutoNum type="arabicPeriod" startAt="1"/>
              </a:pPr>
              <a:r>
                <a:rPr lang="en-US" sz="268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Model Training &amp; Prediction: Implement a CNN-LSTM model for time-series prediction.</a:t>
              </a:r>
            </a:p>
            <a:p>
              <a:pPr algn="l" marL="580072" indent="-290036" lvl="1">
                <a:lnSpc>
                  <a:spcPts val="3224"/>
                </a:lnSpc>
                <a:buAutoNum type="arabicPeriod" startAt="1"/>
              </a:pPr>
              <a:r>
                <a:rPr lang="en-US" sz="268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Input: 6 months of historical data (price, volume, indicators).</a:t>
              </a:r>
            </a:p>
            <a:p>
              <a:pPr algn="l" marL="580072" indent="-290036" lvl="1">
                <a:lnSpc>
                  <a:spcPts val="3224"/>
                </a:lnSpc>
                <a:buAutoNum type="arabicPeriod" startAt="1"/>
              </a:pPr>
              <a:r>
                <a:rPr lang="en-US" sz="268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Output: Next-month price movement forecast.</a:t>
              </a:r>
            </a:p>
            <a:p>
              <a:pPr algn="l" marL="580072" indent="-290036" lvl="1">
                <a:lnSpc>
                  <a:spcPts val="3224"/>
                </a:lnSpc>
                <a:buAutoNum type="arabicPeriod" startAt="1"/>
              </a:pPr>
              <a:r>
                <a:rPr lang="en-US" sz="268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Evaluation: Measure performance using metrics like RMSE, MAE, and Accuracy.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40451" y="2260282"/>
            <a:ext cx="4325477" cy="6765242"/>
            <a:chOff x="0" y="0"/>
            <a:chExt cx="5767303" cy="902032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2883651" y="0"/>
              <a:ext cx="2883651" cy="1032842"/>
              <a:chOff x="0" y="0"/>
              <a:chExt cx="711831" cy="25495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00B4D8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Data Collection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524199"/>
              <a:ext cx="2883651" cy="1032842"/>
              <a:chOff x="0" y="0"/>
              <a:chExt cx="711831" cy="25495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9D4ED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Data Preprocessing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883651" y="3230141"/>
              <a:ext cx="2883651" cy="1032842"/>
              <a:chOff x="0" y="0"/>
              <a:chExt cx="711831" cy="25495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90BE6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Feature Engineering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4758282"/>
              <a:ext cx="2883651" cy="1032842"/>
              <a:chOff x="0" y="0"/>
              <a:chExt cx="711831" cy="25495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Model Training (CNN-LSTM)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883651" y="6459339"/>
              <a:ext cx="2883651" cy="1032842"/>
              <a:chOff x="0" y="0"/>
              <a:chExt cx="711831" cy="25495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FF6B6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Prediction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7987481"/>
              <a:ext cx="2883651" cy="1032842"/>
              <a:chOff x="0" y="0"/>
              <a:chExt cx="711831" cy="25495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11831" cy="254957"/>
              </a:xfrm>
              <a:custGeom>
                <a:avLst/>
                <a:gdLst/>
                <a:ahLst/>
                <a:cxnLst/>
                <a:rect r="r" b="b" t="t" l="l"/>
                <a:pathLst>
                  <a:path h="254957" w="711831">
                    <a:moveTo>
                      <a:pt x="127479" y="0"/>
                    </a:moveTo>
                    <a:lnTo>
                      <a:pt x="584352" y="0"/>
                    </a:lnTo>
                    <a:cubicBezTo>
                      <a:pt x="618161" y="0"/>
                      <a:pt x="650586" y="13431"/>
                      <a:pt x="674493" y="37338"/>
                    </a:cubicBezTo>
                    <a:cubicBezTo>
                      <a:pt x="698400" y="61245"/>
                      <a:pt x="711831" y="93669"/>
                      <a:pt x="711831" y="127479"/>
                    </a:cubicBezTo>
                    <a:lnTo>
                      <a:pt x="711831" y="127479"/>
                    </a:lnTo>
                    <a:cubicBezTo>
                      <a:pt x="711831" y="197883"/>
                      <a:pt x="654756" y="254957"/>
                      <a:pt x="584352" y="254957"/>
                    </a:cubicBezTo>
                    <a:lnTo>
                      <a:pt x="127479" y="254957"/>
                    </a:lnTo>
                    <a:cubicBezTo>
                      <a:pt x="93669" y="254957"/>
                      <a:pt x="61245" y="241527"/>
                      <a:pt x="37338" y="217620"/>
                    </a:cubicBezTo>
                    <a:cubicBezTo>
                      <a:pt x="13431" y="193713"/>
                      <a:pt x="0" y="161288"/>
                      <a:pt x="0" y="127479"/>
                    </a:cubicBezTo>
                    <a:lnTo>
                      <a:pt x="0" y="127479"/>
                    </a:lnTo>
                    <a:cubicBezTo>
                      <a:pt x="0" y="93669"/>
                      <a:pt x="13431" y="61245"/>
                      <a:pt x="37338" y="37338"/>
                    </a:cubicBezTo>
                    <a:cubicBezTo>
                      <a:pt x="61245" y="13431"/>
                      <a:pt x="93669" y="0"/>
                      <a:pt x="127479" y="0"/>
                    </a:cubicBezTo>
                    <a:close/>
                  </a:path>
                </a:pathLst>
              </a:custGeom>
              <a:solidFill>
                <a:srgbClr val="003566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9525"/>
                <a:ext cx="711831" cy="264482"/>
              </a:xfrm>
              <a:prstGeom prst="rect">
                <a:avLst/>
              </a:prstGeom>
            </p:spPr>
            <p:txBody>
              <a:bodyPr anchor="ctr" rtlCol="false" tIns="40650" lIns="40650" bIns="40650" rIns="4065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Evaluation</a:t>
                </a:r>
              </a:p>
            </p:txBody>
          </p:sp>
        </p:grpSp>
        <p:sp>
          <p:nvSpPr>
            <p:cNvPr name="AutoShape 40" id="40"/>
            <p:cNvSpPr/>
            <p:nvPr/>
          </p:nvSpPr>
          <p:spPr>
            <a:xfrm flipH="true">
              <a:off x="1441826" y="516421"/>
              <a:ext cx="0" cy="100777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4300077" y="2040620"/>
              <a:ext cx="0" cy="118952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2" id="42"/>
            <p:cNvSpPr/>
            <p:nvPr/>
          </p:nvSpPr>
          <p:spPr>
            <a:xfrm flipH="true">
              <a:off x="1467226" y="3746562"/>
              <a:ext cx="0" cy="100777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3" id="43"/>
            <p:cNvSpPr/>
            <p:nvPr/>
          </p:nvSpPr>
          <p:spPr>
            <a:xfrm flipH="true">
              <a:off x="1492626" y="6975760"/>
              <a:ext cx="0" cy="100777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1441826" y="516421"/>
              <a:ext cx="144182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1467226" y="3721162"/>
              <a:ext cx="144182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>
              <a:off x="1467226" y="6950360"/>
              <a:ext cx="144182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>
              <a:off x="2883651" y="2040620"/>
              <a:ext cx="141642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>
              <a:off x="4325477" y="5274703"/>
              <a:ext cx="0" cy="118952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2883651" y="5274703"/>
              <a:ext cx="144182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8</a:t>
                </a: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31842"/>
            <a:ext cx="5313665" cy="1328440"/>
            <a:chOff x="0" y="0"/>
            <a:chExt cx="7084887" cy="1771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62400"/>
              <a:ext cx="7084887" cy="14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Current Status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50800"/>
              <a:ext cx="1273839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2510955"/>
            <a:ext cx="16307782" cy="6747345"/>
          </a:xfrm>
          <a:custGeom>
            <a:avLst/>
            <a:gdLst/>
            <a:ahLst/>
            <a:cxnLst/>
            <a:rect r="r" b="b" t="t" l="l"/>
            <a:pathLst>
              <a:path h="6747345" w="16307782">
                <a:moveTo>
                  <a:pt x="0" y="0"/>
                </a:moveTo>
                <a:lnTo>
                  <a:pt x="16307782" y="0"/>
                </a:lnTo>
                <a:lnTo>
                  <a:pt x="16307782" y="6747345"/>
                </a:lnTo>
                <a:lnTo>
                  <a:pt x="0" y="6747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9</a:t>
                </a: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31842"/>
            <a:ext cx="5973911" cy="1328440"/>
            <a:chOff x="0" y="0"/>
            <a:chExt cx="7965215" cy="1771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62400"/>
              <a:ext cx="7965215" cy="14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Expected Result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50800"/>
              <a:ext cx="1432118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15718" y="2528980"/>
            <a:ext cx="5546951" cy="4569231"/>
            <a:chOff x="0" y="0"/>
            <a:chExt cx="7395934" cy="609230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395934" cy="6092308"/>
              <a:chOff x="0" y="0"/>
              <a:chExt cx="1889498" cy="15564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889498" cy="1556450"/>
              </a:xfrm>
              <a:custGeom>
                <a:avLst/>
                <a:gdLst/>
                <a:ahLst/>
                <a:cxnLst/>
                <a:rect r="r" b="b" t="t" l="l"/>
                <a:pathLst>
                  <a:path h="1556450" w="1889498">
                    <a:moveTo>
                      <a:pt x="55036" y="0"/>
                    </a:moveTo>
                    <a:lnTo>
                      <a:pt x="1834462" y="0"/>
                    </a:lnTo>
                    <a:cubicBezTo>
                      <a:pt x="1849059" y="0"/>
                      <a:pt x="1863057" y="5798"/>
                      <a:pt x="1873378" y="16120"/>
                    </a:cubicBezTo>
                    <a:cubicBezTo>
                      <a:pt x="1883700" y="26441"/>
                      <a:pt x="1889498" y="40439"/>
                      <a:pt x="1889498" y="55036"/>
                    </a:cubicBezTo>
                    <a:lnTo>
                      <a:pt x="1889498" y="1501414"/>
                    </a:lnTo>
                    <a:cubicBezTo>
                      <a:pt x="1889498" y="1531810"/>
                      <a:pt x="1864858" y="1556450"/>
                      <a:pt x="1834462" y="1556450"/>
                    </a:cubicBezTo>
                    <a:lnTo>
                      <a:pt x="55036" y="1556450"/>
                    </a:lnTo>
                    <a:cubicBezTo>
                      <a:pt x="40439" y="1556450"/>
                      <a:pt x="26441" y="1550652"/>
                      <a:pt x="16120" y="1540330"/>
                    </a:cubicBezTo>
                    <a:cubicBezTo>
                      <a:pt x="5798" y="1530009"/>
                      <a:pt x="0" y="1516011"/>
                      <a:pt x="0" y="1501414"/>
                    </a:cubicBezTo>
                    <a:lnTo>
                      <a:pt x="0" y="55036"/>
                    </a:lnTo>
                    <a:cubicBezTo>
                      <a:pt x="0" y="40439"/>
                      <a:pt x="5798" y="26441"/>
                      <a:pt x="16120" y="16120"/>
                    </a:cubicBezTo>
                    <a:cubicBezTo>
                      <a:pt x="26441" y="5798"/>
                      <a:pt x="40439" y="0"/>
                      <a:pt x="55036" y="0"/>
                    </a:cubicBezTo>
                    <a:close/>
                  </a:path>
                </a:pathLst>
              </a:custGeom>
              <a:solidFill>
                <a:srgbClr val="F2F4F7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1889498" cy="1565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95089" y="190996"/>
              <a:ext cx="6742212" cy="5510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93001" indent="-296501" lvl="1">
                <a:lnSpc>
                  <a:spcPts val="3295"/>
                </a:lnSpc>
                <a:buAutoNum type="arabicPeriod" startAt="1"/>
              </a:pPr>
              <a:r>
                <a:rPr lang="en-US" sz="274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Mode</a:t>
              </a:r>
              <a:r>
                <a:rPr lang="en-US" sz="274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 Accuracy: Achieve a predictive accuracy of approximately 92% with the CNN-LSTM model.</a:t>
              </a:r>
            </a:p>
            <a:p>
              <a:pPr algn="l" marL="593001" indent="-296501" lvl="1">
                <a:lnSpc>
                  <a:spcPts val="3295"/>
                </a:lnSpc>
                <a:buAutoNum type="arabicPeriod" startAt="1"/>
              </a:pPr>
              <a:r>
                <a:rPr lang="en-US" sz="274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Error Metrics: Target a low Root Mean Square Error (RMSE) of around 0.15.</a:t>
              </a:r>
            </a:p>
            <a:p>
              <a:pPr algn="l" marL="593001" indent="-296501" lvl="1">
                <a:lnSpc>
                  <a:spcPts val="3295"/>
                </a:lnSpc>
                <a:buAutoNum type="arabicPeriod" startAt="1"/>
              </a:pPr>
              <a:r>
                <a:rPr lang="en-US" sz="2746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Practical Outcome: A reliable forecasting tool for short- to medium-term trades.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575651" y="2260283"/>
            <a:ext cx="11490057" cy="5673216"/>
          </a:xfrm>
          <a:custGeom>
            <a:avLst/>
            <a:gdLst/>
            <a:ahLst/>
            <a:cxnLst/>
            <a:rect r="r" b="b" t="t" l="l"/>
            <a:pathLst>
              <a:path h="5673216" w="11490057">
                <a:moveTo>
                  <a:pt x="0" y="0"/>
                </a:moveTo>
                <a:lnTo>
                  <a:pt x="11490057" y="0"/>
                </a:lnTo>
                <a:lnTo>
                  <a:pt x="11490057" y="5673215"/>
                </a:lnTo>
                <a:lnTo>
                  <a:pt x="0" y="5673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205689" y="8924925"/>
            <a:ext cx="787662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Github Link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9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  <a:hlinkClick r:id="rId5" tooltip="https://github.com/DivyanshuSaini2112/Hand-Brain-AI-Stock-Assistant"/>
              </a:rPr>
              <a:t>https://github.com/DivyanshuSaini2112/Hand-Brain-AI-Stock-Assistant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69767" y="8084982"/>
            <a:ext cx="526244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*Actual image of the result of the code (Fetches Data)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10</a:t>
                </a: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31842"/>
            <a:ext cx="4759911" cy="1328440"/>
            <a:chOff x="0" y="0"/>
            <a:chExt cx="6346548" cy="177125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62400"/>
              <a:ext cx="6346548" cy="1408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59"/>
                </a:lnSpc>
              </a:pPr>
              <a:r>
                <a:rPr lang="en-US" sz="6399">
                  <a:solidFill>
                    <a:srgbClr val="000000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References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50800"/>
              <a:ext cx="1141088" cy="0"/>
            </a:xfrm>
            <a:prstGeom prst="line">
              <a:avLst/>
            </a:prstGeom>
            <a:ln cap="flat" w="1016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15718" y="2528980"/>
            <a:ext cx="12396013" cy="6763879"/>
            <a:chOff x="0" y="0"/>
            <a:chExt cx="16528017" cy="901850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6528017" cy="9018505"/>
              <a:chOff x="0" y="0"/>
              <a:chExt cx="3422438" cy="186745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22438" cy="1867452"/>
              </a:xfrm>
              <a:custGeom>
                <a:avLst/>
                <a:gdLst/>
                <a:ahLst/>
                <a:cxnLst/>
                <a:rect r="r" b="b" t="t" l="l"/>
                <a:pathLst>
                  <a:path h="1867452" w="3422438">
                    <a:moveTo>
                      <a:pt x="30385" y="0"/>
                    </a:moveTo>
                    <a:lnTo>
                      <a:pt x="3392053" y="0"/>
                    </a:lnTo>
                    <a:cubicBezTo>
                      <a:pt x="3400111" y="0"/>
                      <a:pt x="3407840" y="3201"/>
                      <a:pt x="3413538" y="8900"/>
                    </a:cubicBezTo>
                    <a:cubicBezTo>
                      <a:pt x="3419236" y="14598"/>
                      <a:pt x="3422438" y="22326"/>
                      <a:pt x="3422438" y="30385"/>
                    </a:cubicBezTo>
                    <a:lnTo>
                      <a:pt x="3422438" y="1837067"/>
                    </a:lnTo>
                    <a:cubicBezTo>
                      <a:pt x="3422438" y="1853848"/>
                      <a:pt x="3408834" y="1867452"/>
                      <a:pt x="3392053" y="1867452"/>
                    </a:cubicBezTo>
                    <a:lnTo>
                      <a:pt x="30385" y="1867452"/>
                    </a:lnTo>
                    <a:cubicBezTo>
                      <a:pt x="22326" y="1867452"/>
                      <a:pt x="14598" y="1864250"/>
                      <a:pt x="8900" y="1858552"/>
                    </a:cubicBezTo>
                    <a:cubicBezTo>
                      <a:pt x="3201" y="1852854"/>
                      <a:pt x="0" y="1845125"/>
                      <a:pt x="0" y="1837067"/>
                    </a:cubicBezTo>
                    <a:lnTo>
                      <a:pt x="0" y="30385"/>
                    </a:lnTo>
                    <a:cubicBezTo>
                      <a:pt x="0" y="22326"/>
                      <a:pt x="3201" y="14598"/>
                      <a:pt x="8900" y="8900"/>
                    </a:cubicBezTo>
                    <a:cubicBezTo>
                      <a:pt x="14598" y="3201"/>
                      <a:pt x="22326" y="0"/>
                      <a:pt x="30385" y="0"/>
                    </a:cubicBezTo>
                    <a:close/>
                  </a:path>
                </a:pathLst>
              </a:custGeom>
              <a:solidFill>
                <a:srgbClr val="FEFDF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3422438" cy="18769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35974" y="239484"/>
              <a:ext cx="15067116" cy="82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1635" indent="-365818" lvl="1">
                <a:lnSpc>
                  <a:spcPts val="4066"/>
                </a:lnSpc>
                <a:buAutoNum type="arabicPeriod" startAt="1"/>
              </a:pPr>
              <a:r>
                <a:rPr lang="en-US" sz="3388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Fischer,</a:t>
              </a:r>
              <a:r>
                <a:rPr lang="en-US" sz="3388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T., &amp; Krauss, C. (2018). Deep learning with LSTM networks for stock return prediction. European Journal of Operational Research.</a:t>
              </a:r>
            </a:p>
            <a:p>
              <a:pPr algn="l" marL="731635" indent="-365818" lvl="1">
                <a:lnSpc>
                  <a:spcPts val="4066"/>
                </a:lnSpc>
                <a:buAutoNum type="arabicPeriod" startAt="1"/>
              </a:pPr>
              <a:r>
                <a:rPr lang="en-US" sz="3388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Saini, A. (2025). A Comparative Review of Machine Learning and Deep Learning Models for Stock Market Price and Trend Prediction. [Journal/Conference Name].</a:t>
              </a:r>
            </a:p>
            <a:p>
              <a:pPr algn="l" marL="731635" indent="-365818" lvl="1">
                <a:lnSpc>
                  <a:spcPts val="4066"/>
                </a:lnSpc>
                <a:buAutoNum type="arabicPeriod" startAt="1"/>
              </a:pPr>
              <a:r>
                <a:rPr lang="en-US" sz="3388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Yahoo Finance API Documentation. Retrieved from </a:t>
              </a:r>
              <a:r>
                <a:rPr lang="en-US" sz="3388" u="sng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  <a:hlinkClick r:id="rId4" tooltip="https://python-yahoofinance.readthedocs.io/en/latest/api.html"/>
                </a:rPr>
                <a:t>https://python-yahoofinance.readthedocs.io/en/latest/api.html</a:t>
              </a:r>
            </a:p>
            <a:p>
              <a:pPr algn="l" marL="731635" indent="-365818" lvl="1">
                <a:lnSpc>
                  <a:spcPts val="4066"/>
                </a:lnSpc>
                <a:buAutoNum type="arabicPeriod" startAt="1"/>
              </a:pPr>
              <a:r>
                <a:rPr lang="en-US" sz="3388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Zhang, Y. et al. (2023). Deep Learning Models for Stock Price Prediction. Journal of Finance and Data Science.</a:t>
              </a:r>
            </a:p>
            <a:p>
              <a:pPr algn="l" marL="731635" indent="-365818" lvl="1">
                <a:lnSpc>
                  <a:spcPts val="4066"/>
                </a:lnSpc>
                <a:buAutoNum type="arabicPeriod" startAt="1"/>
              </a:pPr>
              <a:r>
                <a:rPr lang="en-US" sz="3388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Alpha Vantage API Documentation.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368108" y="4248047"/>
            <a:ext cx="3747566" cy="1889625"/>
            <a:chOff x="0" y="0"/>
            <a:chExt cx="5257799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57799" cy="2651126"/>
            </a:xfrm>
            <a:custGeom>
              <a:avLst/>
              <a:gdLst/>
              <a:ahLst/>
              <a:cxnLst/>
              <a:rect r="r" b="b" t="t" l="l"/>
              <a:pathLst>
                <a:path h="2651126" w="5257799">
                  <a:moveTo>
                    <a:pt x="0" y="0"/>
                  </a:moveTo>
                  <a:lnTo>
                    <a:pt x="5257799" y="0"/>
                  </a:lnTo>
                  <a:lnTo>
                    <a:pt x="5257799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5257799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Thank You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739312"/>
            <a:ext cx="18287998" cy="754857"/>
            <a:chOff x="0" y="0"/>
            <a:chExt cx="24383998" cy="100647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383998" cy="1006476"/>
              <a:chOff x="0" y="0"/>
              <a:chExt cx="24383998" cy="100647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E17A47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7843904" y="193168"/>
              <a:ext cx="9929309" cy="813308"/>
              <a:chOff x="0" y="0"/>
              <a:chExt cx="9929309" cy="81330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929309" cy="813308"/>
              </a:xfrm>
              <a:custGeom>
                <a:avLst/>
                <a:gdLst/>
                <a:ahLst/>
                <a:cxnLst/>
                <a:rect r="r" b="b" t="t" l="l"/>
                <a:pathLst>
                  <a:path h="813308" w="9929309">
                    <a:moveTo>
                      <a:pt x="0" y="0"/>
                    </a:moveTo>
                    <a:lnTo>
                      <a:pt x="9929309" y="0"/>
                    </a:lnTo>
                    <a:lnTo>
                      <a:pt x="9929309" y="813308"/>
                    </a:lnTo>
                    <a:lnTo>
                      <a:pt x="0" y="81330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929309" cy="8514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Times New Roman MT"/>
                    <a:ea typeface="Times New Roman MT"/>
                    <a:cs typeface="Times New Roman MT"/>
                    <a:sym typeface="Times New Roman MT"/>
                  </a:rPr>
                  <a:t>Hand&amp;Brain — Personalized Stock Trading Assistant | Divyanshu Saini</a:t>
                </a: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870679" y="0"/>
              <a:ext cx="5689600" cy="730250"/>
              <a:chOff x="0" y="0"/>
              <a:chExt cx="5689600" cy="73025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6896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568960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11</a:t>
                </a: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12469767" y="-6404385"/>
            <a:ext cx="8214637" cy="8229600"/>
          </a:xfrm>
          <a:custGeom>
            <a:avLst/>
            <a:gdLst/>
            <a:ahLst/>
            <a:cxnLst/>
            <a:rect r="r" b="b" t="t" l="l"/>
            <a:pathLst>
              <a:path h="8229600" w="8214637">
                <a:moveTo>
                  <a:pt x="0" y="0"/>
                </a:moveTo>
                <a:lnTo>
                  <a:pt x="8214637" y="0"/>
                </a:lnTo>
                <a:lnTo>
                  <a:pt x="82146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DAG1kLPFfjo</dc:identifier>
  <dcterms:modified xsi:type="dcterms:W3CDTF">2011-08-01T06:04:30Z</dcterms:modified>
  <cp:revision>1</cp:revision>
  <dc:title>PBL-3 PPT Sample.pptx</dc:title>
</cp:coreProperties>
</file>