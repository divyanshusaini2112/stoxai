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DM Serif Display" pitchFamily="2" charset="0"/>
      <p:regular r:id="rId13"/>
    </p:embeddedFont>
    <p:embeddedFont>
      <p:font typeface="Times New Roman Bold" panose="02020803070505020304" pitchFamily="18" charset="0"/>
      <p:regular r:id="rId14"/>
      <p:bold r:id="rId15"/>
    </p:embeddedFont>
    <p:embeddedFont>
      <p:font typeface="Times New Roman MT" panose="020B0604020202020204" charset="0"/>
      <p:regular r:id="rId16"/>
    </p:embeddedFont>
    <p:embeddedFont>
      <p:font typeface="Times New Roman MT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341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overleaf.com/read/gybcknjhhrjx#5fa0de" TargetMode="External"/><Relationship Id="rId3" Type="http://schemas.openxmlformats.org/officeDocument/2006/relationships/image" Target="../media/image3.png"/><Relationship Id="rId7" Type="http://schemas.openxmlformats.org/officeDocument/2006/relationships/image" Target="../media/image11.sv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github.com/DivyanshuSaini2112/Hand-Brain-AI-Stock-Assistant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python-yahoofinance.readthedocs.io/en/latest/api.html" TargetMode="Externa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6000" y="4480460"/>
            <a:ext cx="13716000" cy="1620493"/>
            <a:chOff x="0" y="0"/>
            <a:chExt cx="18288000" cy="21606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2160657"/>
            </a:xfrm>
            <a:custGeom>
              <a:avLst/>
              <a:gdLst/>
              <a:ahLst/>
              <a:cxnLst/>
              <a:rect l="l" t="t" r="r" b="b"/>
              <a:pathLst>
                <a:path w="18288000" h="2160657">
                  <a:moveTo>
                    <a:pt x="0" y="0"/>
                  </a:moveTo>
                  <a:lnTo>
                    <a:pt x="18288000" y="0"/>
                  </a:lnTo>
                  <a:lnTo>
                    <a:pt x="18288000" y="2160657"/>
                  </a:lnTo>
                  <a:lnTo>
                    <a:pt x="0" y="21606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04775"/>
              <a:ext cx="18288000" cy="2055882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9720"/>
                </a:lnSpc>
              </a:pPr>
              <a:r>
                <a:rPr lang="en-US" sz="90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Hand&amp;Brain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07556" y="7448861"/>
            <a:ext cx="4676200" cy="1493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By:</a:t>
            </a:r>
          </a:p>
          <a:p>
            <a:pPr algn="ctr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Divyanshu Saini</a:t>
            </a:r>
          </a:p>
          <a:p>
            <a:pPr algn="ctr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23FE10CSE00278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904244" y="7438222"/>
            <a:ext cx="4676199" cy="1007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By:</a:t>
            </a:r>
          </a:p>
          <a:p>
            <a:pPr algn="ctr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Ankit Shrivastava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51134" y="54058"/>
            <a:ext cx="6261068" cy="1834135"/>
            <a:chOff x="0" y="0"/>
            <a:chExt cx="8348090" cy="2445513"/>
          </a:xfrm>
        </p:grpSpPr>
        <p:sp>
          <p:nvSpPr>
            <p:cNvPr id="8" name="Freeform 8" descr="A black and white text  AI-generated content may be incorrect."/>
            <p:cNvSpPr/>
            <p:nvPr/>
          </p:nvSpPr>
          <p:spPr>
            <a:xfrm>
              <a:off x="0" y="0"/>
              <a:ext cx="8348091" cy="2445512"/>
            </a:xfrm>
            <a:custGeom>
              <a:avLst/>
              <a:gdLst/>
              <a:ahLst/>
              <a:cxnLst/>
              <a:rect l="l" t="t" r="r" b="b"/>
              <a:pathLst>
                <a:path w="8348091" h="2445512">
                  <a:moveTo>
                    <a:pt x="0" y="0"/>
                  </a:moveTo>
                  <a:lnTo>
                    <a:pt x="8348091" y="0"/>
                  </a:lnTo>
                  <a:lnTo>
                    <a:pt x="8348091" y="2445512"/>
                  </a:lnTo>
                  <a:lnTo>
                    <a:pt x="0" y="2445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6" b="-66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2291313" y="1823882"/>
            <a:ext cx="13716000" cy="1732708"/>
            <a:chOff x="0" y="0"/>
            <a:chExt cx="18288000" cy="231027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288000" cy="2310277"/>
            </a:xfrm>
            <a:custGeom>
              <a:avLst/>
              <a:gdLst/>
              <a:ahLst/>
              <a:cxnLst/>
              <a:rect l="l" t="t" r="r" b="b"/>
              <a:pathLst>
                <a:path w="18288000" h="2310277">
                  <a:moveTo>
                    <a:pt x="0" y="0"/>
                  </a:moveTo>
                  <a:lnTo>
                    <a:pt x="18288000" y="0"/>
                  </a:lnTo>
                  <a:lnTo>
                    <a:pt x="18288000" y="2310277"/>
                  </a:lnTo>
                  <a:lnTo>
                    <a:pt x="0" y="23102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114300"/>
              <a:ext cx="18288000" cy="2424577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593"/>
                </a:lnSpc>
              </a:pPr>
              <a:r>
                <a:rPr lang="en-US" sz="38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School of Computer Science and Engineering</a:t>
              </a:r>
            </a:p>
            <a:p>
              <a:pPr algn="ctr">
                <a:lnSpc>
                  <a:spcPts val="5593"/>
                </a:lnSpc>
              </a:pPr>
              <a:r>
                <a:rPr lang="en-US" sz="38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Department of Computer Science and Engineering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" y="9717298"/>
            <a:ext cx="18287999" cy="754856"/>
            <a:chOff x="0" y="0"/>
            <a:chExt cx="24383999" cy="100647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E17A47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5882930" y="9833599"/>
            <a:ext cx="7446982" cy="638556"/>
            <a:chOff x="0" y="0"/>
            <a:chExt cx="9929309" cy="85140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929309" cy="851408"/>
            </a:xfrm>
            <a:custGeom>
              <a:avLst/>
              <a:gdLst/>
              <a:ahLst/>
              <a:cxnLst/>
              <a:rect l="l" t="t" r="r" b="b"/>
              <a:pathLst>
                <a:path w="9929309" h="851408">
                  <a:moveTo>
                    <a:pt x="0" y="0"/>
                  </a:moveTo>
                  <a:lnTo>
                    <a:pt x="9929309" y="0"/>
                  </a:lnTo>
                  <a:lnTo>
                    <a:pt x="9929309" y="851408"/>
                  </a:lnTo>
                  <a:lnTo>
                    <a:pt x="0" y="8514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9929309" cy="8895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Hand&amp;Brain — Personalized Stock Trading Assistant | Divyanshu Saini</a:t>
              </a:r>
            </a:p>
            <a:p>
              <a:pPr algn="ctr">
                <a:lnSpc>
                  <a:spcPts val="2160"/>
                </a:lnSpc>
              </a:pPr>
              <a:endParaRPr lang="en-US" sz="18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403011" y="9688723"/>
            <a:ext cx="4267200" cy="576262"/>
            <a:chOff x="0" y="0"/>
            <a:chExt cx="5689600" cy="7683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689600" cy="768350"/>
            </a:xfrm>
            <a:custGeom>
              <a:avLst/>
              <a:gdLst/>
              <a:ahLst/>
              <a:cxnLst/>
              <a:rect l="l" t="t" r="r" b="b"/>
              <a:pathLst>
                <a:path w="5689600" h="768350">
                  <a:moveTo>
                    <a:pt x="0" y="0"/>
                  </a:moveTo>
                  <a:lnTo>
                    <a:pt x="5689600" y="0"/>
                  </a:lnTo>
                  <a:lnTo>
                    <a:pt x="5689600" y="768350"/>
                  </a:lnTo>
                  <a:lnTo>
                    <a:pt x="0" y="7683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5689600" cy="787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27" b="-27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166399" y="1148100"/>
            <a:ext cx="3822789" cy="230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8"/>
              </a:lnSpc>
            </a:pPr>
            <a:r>
              <a:rPr lang="en-US" sz="6398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Table of Contents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28299" y="990600"/>
            <a:ext cx="763525" cy="76200"/>
            <a:chOff x="0" y="0"/>
            <a:chExt cx="1018033" cy="101600"/>
          </a:xfrm>
        </p:grpSpPr>
        <p:sp>
          <p:nvSpPr>
            <p:cNvPr id="6" name="Freeform 6"/>
            <p:cNvSpPr/>
            <p:nvPr/>
          </p:nvSpPr>
          <p:spPr>
            <a:xfrm>
              <a:off x="67691" y="0"/>
              <a:ext cx="916432" cy="135509"/>
            </a:xfrm>
            <a:custGeom>
              <a:avLst/>
              <a:gdLst/>
              <a:ahLst/>
              <a:cxnLst/>
              <a:rect l="l" t="t" r="r" b="b"/>
              <a:pathLst>
                <a:path w="916432" h="135509">
                  <a:moveTo>
                    <a:pt x="0" y="0"/>
                  </a:moveTo>
                  <a:lnTo>
                    <a:pt x="916432" y="0"/>
                  </a:lnTo>
                  <a:lnTo>
                    <a:pt x="916432" y="135509"/>
                  </a:lnTo>
                  <a:lnTo>
                    <a:pt x="0" y="1355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2" y="9717298"/>
            <a:ext cx="18287999" cy="754856"/>
            <a:chOff x="0" y="0"/>
            <a:chExt cx="24383999" cy="100647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E17A47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5882930" y="9833599"/>
            <a:ext cx="7446982" cy="638556"/>
            <a:chOff x="0" y="0"/>
            <a:chExt cx="9929309" cy="85140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929309" cy="851408"/>
            </a:xfrm>
            <a:custGeom>
              <a:avLst/>
              <a:gdLst/>
              <a:ahLst/>
              <a:cxnLst/>
              <a:rect l="l" t="t" r="r" b="b"/>
              <a:pathLst>
                <a:path w="9929309" h="851408">
                  <a:moveTo>
                    <a:pt x="0" y="0"/>
                  </a:moveTo>
                  <a:lnTo>
                    <a:pt x="9929309" y="0"/>
                  </a:lnTo>
                  <a:lnTo>
                    <a:pt x="9929309" y="851408"/>
                  </a:lnTo>
                  <a:lnTo>
                    <a:pt x="0" y="8514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9929309" cy="8895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Hand&amp;Brain — Personalized Stock Trading Assistant | Divyanshu Saini</a:t>
              </a:r>
            </a:p>
            <a:p>
              <a:pPr algn="ctr">
                <a:lnSpc>
                  <a:spcPts val="2160"/>
                </a:lnSpc>
              </a:pPr>
              <a:endParaRPr lang="en-US" sz="18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403011" y="9688723"/>
            <a:ext cx="4267200" cy="576262"/>
            <a:chOff x="0" y="0"/>
            <a:chExt cx="5689600" cy="7683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689600" cy="768350"/>
            </a:xfrm>
            <a:custGeom>
              <a:avLst/>
              <a:gdLst/>
              <a:ahLst/>
              <a:cxnLst/>
              <a:rect l="l" t="t" r="r" b="b"/>
              <a:pathLst>
                <a:path w="5689600" h="768350">
                  <a:moveTo>
                    <a:pt x="0" y="0"/>
                  </a:moveTo>
                  <a:lnTo>
                    <a:pt x="5689600" y="0"/>
                  </a:lnTo>
                  <a:lnTo>
                    <a:pt x="5689600" y="768350"/>
                  </a:lnTo>
                  <a:lnTo>
                    <a:pt x="0" y="7683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5689600" cy="787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469767" y="-6404385"/>
            <a:ext cx="8214637" cy="8229600"/>
            <a:chOff x="0" y="0"/>
            <a:chExt cx="10952849" cy="1097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952861" cy="10972800"/>
            </a:xfrm>
            <a:custGeom>
              <a:avLst/>
              <a:gdLst/>
              <a:ahLst/>
              <a:cxnLst/>
              <a:rect l="l" t="t" r="r" b="b"/>
              <a:pathLst>
                <a:path w="10952861" h="10972800">
                  <a:moveTo>
                    <a:pt x="0" y="0"/>
                  </a:moveTo>
                  <a:lnTo>
                    <a:pt x="10952861" y="0"/>
                  </a:lnTo>
                  <a:lnTo>
                    <a:pt x="10952861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" b="-4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683265" y="3528715"/>
            <a:ext cx="6986031" cy="4607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6"/>
              </a:lnSpc>
            </a:pPr>
            <a:endParaRPr/>
          </a:p>
          <a:p>
            <a:pPr marL="886777" lvl="2" indent="-295592" algn="l">
              <a:lnSpc>
                <a:spcPts val="4536"/>
              </a:lnSpc>
              <a:buFont typeface="Arial"/>
              <a:buChar char="⚬"/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</a:p>
          <a:p>
            <a:pPr marL="886777" lvl="2" indent="-295592" algn="l">
              <a:lnSpc>
                <a:spcPts val="4536"/>
              </a:lnSpc>
              <a:buFont typeface="Arial"/>
              <a:buChar char="⚬"/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</a:p>
          <a:p>
            <a:pPr marL="886777" lvl="2" indent="-295592" algn="l">
              <a:lnSpc>
                <a:spcPts val="4536"/>
              </a:lnSpc>
              <a:buFont typeface="Arial"/>
              <a:buChar char="⚬"/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</a:p>
          <a:p>
            <a:pPr marL="886777" lvl="2" indent="-295592" algn="l">
              <a:lnSpc>
                <a:spcPts val="4536"/>
              </a:lnSpc>
              <a:buFont typeface="Arial"/>
              <a:buChar char="⚬"/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</a:p>
          <a:p>
            <a:pPr marL="886777" lvl="2" indent="-295592" algn="l">
              <a:lnSpc>
                <a:spcPts val="4536"/>
              </a:lnSpc>
              <a:buFont typeface="Arial"/>
              <a:buChar char="⚬"/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Methodology</a:t>
            </a:r>
          </a:p>
          <a:p>
            <a:pPr marL="886777" lvl="2" indent="-295592" algn="l">
              <a:lnSpc>
                <a:spcPts val="4536"/>
              </a:lnSpc>
              <a:buFont typeface="Arial"/>
              <a:buChar char="⚬"/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</a:t>
            </a:r>
          </a:p>
          <a:p>
            <a:pPr marL="886777" lvl="2" indent="-295592" algn="l">
              <a:lnSpc>
                <a:spcPts val="4536"/>
              </a:lnSpc>
              <a:buFont typeface="Arial"/>
              <a:buChar char="⚬"/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27" b="-2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9739312"/>
            <a:ext cx="18287999" cy="754856"/>
            <a:chOff x="0" y="0"/>
            <a:chExt cx="24383999" cy="10064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E17A4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5882928" y="9855613"/>
            <a:ext cx="7446982" cy="638556"/>
            <a:chOff x="0" y="0"/>
            <a:chExt cx="9929309" cy="85140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929309" cy="851408"/>
            </a:xfrm>
            <a:custGeom>
              <a:avLst/>
              <a:gdLst/>
              <a:ahLst/>
              <a:cxnLst/>
              <a:rect l="l" t="t" r="r" b="b"/>
              <a:pathLst>
                <a:path w="9929309" h="851408">
                  <a:moveTo>
                    <a:pt x="0" y="0"/>
                  </a:moveTo>
                  <a:lnTo>
                    <a:pt x="9929309" y="0"/>
                  </a:lnTo>
                  <a:lnTo>
                    <a:pt x="9929309" y="851408"/>
                  </a:lnTo>
                  <a:lnTo>
                    <a:pt x="0" y="8514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9929309" cy="8895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Hand&amp;Brain — Personalized Stock Trading Assistant | Divyanshu Saini</a:t>
              </a:r>
            </a:p>
            <a:p>
              <a:pPr algn="ctr">
                <a:lnSpc>
                  <a:spcPts val="2160"/>
                </a:lnSpc>
              </a:pPr>
              <a:endParaRPr lang="en-US" sz="18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403009" y="9710737"/>
            <a:ext cx="4267200" cy="576262"/>
            <a:chOff x="0" y="0"/>
            <a:chExt cx="5689600" cy="7683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689600" cy="768350"/>
            </a:xfrm>
            <a:custGeom>
              <a:avLst/>
              <a:gdLst/>
              <a:ahLst/>
              <a:cxnLst/>
              <a:rect l="l" t="t" r="r" b="b"/>
              <a:pathLst>
                <a:path w="5689600" h="768350">
                  <a:moveTo>
                    <a:pt x="0" y="0"/>
                  </a:moveTo>
                  <a:lnTo>
                    <a:pt x="5689600" y="0"/>
                  </a:lnTo>
                  <a:lnTo>
                    <a:pt x="5689600" y="768350"/>
                  </a:lnTo>
                  <a:lnTo>
                    <a:pt x="0" y="7683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5689600" cy="787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469767" y="-6404385"/>
            <a:ext cx="8214637" cy="8229600"/>
            <a:chOff x="0" y="0"/>
            <a:chExt cx="10952849" cy="1097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952861" cy="10972800"/>
            </a:xfrm>
            <a:custGeom>
              <a:avLst/>
              <a:gdLst/>
              <a:ahLst/>
              <a:cxnLst/>
              <a:rect l="l" t="t" r="r" b="b"/>
              <a:pathLst>
                <a:path w="10952861" h="10972800">
                  <a:moveTo>
                    <a:pt x="0" y="0"/>
                  </a:moveTo>
                  <a:lnTo>
                    <a:pt x="10952861" y="0"/>
                  </a:lnTo>
                  <a:lnTo>
                    <a:pt x="10952861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" b="-4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028700" y="1089342"/>
            <a:ext cx="10616927" cy="1170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8"/>
              </a:lnSpc>
            </a:pPr>
            <a:r>
              <a:rPr lang="en-US" sz="6398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Introduction - The Challenge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90600" y="931842"/>
            <a:ext cx="1985087" cy="76200"/>
            <a:chOff x="0" y="0"/>
            <a:chExt cx="2646783" cy="101600"/>
          </a:xfrm>
        </p:grpSpPr>
        <p:sp>
          <p:nvSpPr>
            <p:cNvPr id="16" name="Freeform 16"/>
            <p:cNvSpPr/>
            <p:nvPr/>
          </p:nvSpPr>
          <p:spPr>
            <a:xfrm>
              <a:off x="67691" y="0"/>
              <a:ext cx="2545207" cy="135509"/>
            </a:xfrm>
            <a:custGeom>
              <a:avLst/>
              <a:gdLst/>
              <a:ahLst/>
              <a:cxnLst/>
              <a:rect l="l" t="t" r="r" b="b"/>
              <a:pathLst>
                <a:path w="2545207" h="135509">
                  <a:moveTo>
                    <a:pt x="0" y="0"/>
                  </a:moveTo>
                  <a:lnTo>
                    <a:pt x="2545207" y="0"/>
                  </a:lnTo>
                  <a:lnTo>
                    <a:pt x="2545207" y="135509"/>
                  </a:lnTo>
                  <a:lnTo>
                    <a:pt x="0" y="1355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3535294" y="2566267"/>
            <a:ext cx="2915692" cy="1310591"/>
            <a:chOff x="0" y="0"/>
            <a:chExt cx="3887589" cy="174745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887597" cy="1747520"/>
            </a:xfrm>
            <a:custGeom>
              <a:avLst/>
              <a:gdLst/>
              <a:ahLst/>
              <a:cxnLst/>
              <a:rect l="l" t="t" r="r" b="b"/>
              <a:pathLst>
                <a:path w="3887597" h="1747520">
                  <a:moveTo>
                    <a:pt x="548640" y="0"/>
                  </a:moveTo>
                  <a:lnTo>
                    <a:pt x="3338957" y="0"/>
                  </a:lnTo>
                  <a:cubicBezTo>
                    <a:pt x="3641979" y="0"/>
                    <a:pt x="3887597" y="245618"/>
                    <a:pt x="3887597" y="548640"/>
                  </a:cubicBezTo>
                  <a:lnTo>
                    <a:pt x="3887597" y="1198880"/>
                  </a:lnTo>
                  <a:cubicBezTo>
                    <a:pt x="3887597" y="1501902"/>
                    <a:pt x="3641979" y="1747520"/>
                    <a:pt x="3338957" y="1747520"/>
                  </a:cubicBezTo>
                  <a:lnTo>
                    <a:pt x="548640" y="1747520"/>
                  </a:lnTo>
                  <a:cubicBezTo>
                    <a:pt x="245618" y="1747393"/>
                    <a:pt x="0" y="1501902"/>
                    <a:pt x="0" y="1198880"/>
                  </a:cubicBezTo>
                  <a:lnTo>
                    <a:pt x="0" y="548640"/>
                  </a:lnTo>
                  <a:cubicBezTo>
                    <a:pt x="0" y="245618"/>
                    <a:pt x="245618" y="0"/>
                    <a:pt x="548640" y="0"/>
                  </a:cubicBezTo>
                  <a:close/>
                </a:path>
              </a:pathLst>
            </a:custGeom>
            <a:solidFill>
              <a:srgbClr val="003566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3535294" y="2508388"/>
            <a:ext cx="2915692" cy="1368471"/>
            <a:chOff x="0" y="0"/>
            <a:chExt cx="3887589" cy="182462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887589" cy="1824628"/>
            </a:xfrm>
            <a:custGeom>
              <a:avLst/>
              <a:gdLst/>
              <a:ahLst/>
              <a:cxnLst/>
              <a:rect l="l" t="t" r="r" b="b"/>
              <a:pathLst>
                <a:path w="3887589" h="1824628">
                  <a:moveTo>
                    <a:pt x="0" y="0"/>
                  </a:moveTo>
                  <a:lnTo>
                    <a:pt x="3887589" y="0"/>
                  </a:lnTo>
                  <a:lnTo>
                    <a:pt x="3887589" y="1824628"/>
                  </a:lnTo>
                  <a:lnTo>
                    <a:pt x="0" y="18246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3887589" cy="18436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59"/>
                </a:lnSpc>
              </a:pPr>
              <a:r>
                <a:rPr lang="en-US" sz="2299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Challenges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978852" y="3862571"/>
            <a:ext cx="28575" cy="1351364"/>
            <a:chOff x="0" y="0"/>
            <a:chExt cx="38100" cy="1801818"/>
          </a:xfrm>
        </p:grpSpPr>
        <p:sp>
          <p:nvSpPr>
            <p:cNvPr id="23" name="Freeform 23"/>
            <p:cNvSpPr/>
            <p:nvPr/>
          </p:nvSpPr>
          <p:spPr>
            <a:xfrm>
              <a:off x="0" y="25400"/>
              <a:ext cx="50800" cy="1763776"/>
            </a:xfrm>
            <a:custGeom>
              <a:avLst/>
              <a:gdLst/>
              <a:ahLst/>
              <a:cxnLst/>
              <a:rect l="l" t="t" r="r" b="b"/>
              <a:pathLst>
                <a:path w="50800" h="1763776">
                  <a:moveTo>
                    <a:pt x="50800" y="0"/>
                  </a:moveTo>
                  <a:lnTo>
                    <a:pt x="50800" y="1763776"/>
                  </a:lnTo>
                  <a:lnTo>
                    <a:pt x="0" y="17637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3875329" y="5199646"/>
            <a:ext cx="2162738" cy="774632"/>
            <a:chOff x="0" y="0"/>
            <a:chExt cx="2883651" cy="103284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883662" cy="1032764"/>
            </a:xfrm>
            <a:custGeom>
              <a:avLst/>
              <a:gdLst/>
              <a:ahLst/>
              <a:cxnLst/>
              <a:rect l="l" t="t" r="r" b="b"/>
              <a:pathLst>
                <a:path w="2883662" h="1032764">
                  <a:moveTo>
                    <a:pt x="516382" y="0"/>
                  </a:moveTo>
                  <a:lnTo>
                    <a:pt x="2367280" y="0"/>
                  </a:lnTo>
                  <a:cubicBezTo>
                    <a:pt x="2504186" y="0"/>
                    <a:pt x="2635631" y="54356"/>
                    <a:pt x="2732405" y="151257"/>
                  </a:cubicBezTo>
                  <a:cubicBezTo>
                    <a:pt x="2829179" y="248158"/>
                    <a:pt x="2883662" y="379476"/>
                    <a:pt x="2883662" y="516382"/>
                  </a:cubicBezTo>
                  <a:cubicBezTo>
                    <a:pt x="2883662" y="801624"/>
                    <a:pt x="2652395" y="1032764"/>
                    <a:pt x="2367280" y="1032764"/>
                  </a:cubicBezTo>
                  <a:lnTo>
                    <a:pt x="516382" y="1032764"/>
                  </a:lnTo>
                  <a:cubicBezTo>
                    <a:pt x="379476" y="1032764"/>
                    <a:pt x="248031" y="978408"/>
                    <a:pt x="151257" y="881507"/>
                  </a:cubicBezTo>
                  <a:cubicBezTo>
                    <a:pt x="54483" y="784606"/>
                    <a:pt x="0" y="653415"/>
                    <a:pt x="0" y="516382"/>
                  </a:cubicBezTo>
                  <a:cubicBezTo>
                    <a:pt x="0" y="379349"/>
                    <a:pt x="54356" y="248158"/>
                    <a:pt x="151257" y="151257"/>
                  </a:cubicBezTo>
                  <a:cubicBezTo>
                    <a:pt x="248158" y="54356"/>
                    <a:pt x="379476" y="0"/>
                    <a:pt x="516382" y="0"/>
                  </a:cubicBezTo>
                  <a:close/>
                </a:path>
              </a:pathLst>
            </a:custGeom>
            <a:solidFill>
              <a:srgbClr val="90BE6D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3875329" y="5170707"/>
            <a:ext cx="2162738" cy="803571"/>
            <a:chOff x="0" y="0"/>
            <a:chExt cx="2883651" cy="107142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883651" cy="1071428"/>
            </a:xfrm>
            <a:custGeom>
              <a:avLst/>
              <a:gdLst/>
              <a:ahLst/>
              <a:cxnLst/>
              <a:rect l="l" t="t" r="r" b="b"/>
              <a:pathLst>
                <a:path w="2883651" h="1071428">
                  <a:moveTo>
                    <a:pt x="0" y="0"/>
                  </a:moveTo>
                  <a:lnTo>
                    <a:pt x="2883651" y="0"/>
                  </a:lnTo>
                  <a:lnTo>
                    <a:pt x="2883651" y="1071428"/>
                  </a:lnTo>
                  <a:lnTo>
                    <a:pt x="0" y="10714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2883651" cy="10904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Limited Actionability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095782" y="4375234"/>
            <a:ext cx="5913116" cy="28575"/>
            <a:chOff x="0" y="0"/>
            <a:chExt cx="7884155" cy="38100"/>
          </a:xfrm>
        </p:grpSpPr>
        <p:sp>
          <p:nvSpPr>
            <p:cNvPr id="30" name="Freeform 30"/>
            <p:cNvSpPr/>
            <p:nvPr/>
          </p:nvSpPr>
          <p:spPr>
            <a:xfrm>
              <a:off x="25400" y="0"/>
              <a:ext cx="7846060" cy="50800"/>
            </a:xfrm>
            <a:custGeom>
              <a:avLst/>
              <a:gdLst/>
              <a:ahLst/>
              <a:cxnLst/>
              <a:rect l="l" t="t" r="r" b="b"/>
              <a:pathLst>
                <a:path w="7846060" h="50800">
                  <a:moveTo>
                    <a:pt x="0" y="0"/>
                  </a:moveTo>
                  <a:lnTo>
                    <a:pt x="7846060" y="0"/>
                  </a:lnTo>
                  <a:lnTo>
                    <a:pt x="784606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2095782" y="4375234"/>
            <a:ext cx="28575" cy="786123"/>
            <a:chOff x="0" y="0"/>
            <a:chExt cx="38100" cy="1048164"/>
          </a:xfrm>
        </p:grpSpPr>
        <p:sp>
          <p:nvSpPr>
            <p:cNvPr id="32" name="Freeform 32"/>
            <p:cNvSpPr/>
            <p:nvPr/>
          </p:nvSpPr>
          <p:spPr>
            <a:xfrm>
              <a:off x="0" y="25400"/>
              <a:ext cx="50800" cy="1010031"/>
            </a:xfrm>
            <a:custGeom>
              <a:avLst/>
              <a:gdLst/>
              <a:ahLst/>
              <a:cxnLst/>
              <a:rect l="l" t="t" r="r" b="b"/>
              <a:pathLst>
                <a:path w="50800" h="1010031">
                  <a:moveTo>
                    <a:pt x="50800" y="0"/>
                  </a:moveTo>
                  <a:lnTo>
                    <a:pt x="50800" y="1010031"/>
                  </a:lnTo>
                  <a:lnTo>
                    <a:pt x="0" y="10100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1028700" y="5147069"/>
            <a:ext cx="2162738" cy="774632"/>
            <a:chOff x="0" y="0"/>
            <a:chExt cx="2883651" cy="103284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883662" cy="1032764"/>
            </a:xfrm>
            <a:custGeom>
              <a:avLst/>
              <a:gdLst/>
              <a:ahLst/>
              <a:cxnLst/>
              <a:rect l="l" t="t" r="r" b="b"/>
              <a:pathLst>
                <a:path w="2883662" h="1032764">
                  <a:moveTo>
                    <a:pt x="516382" y="0"/>
                  </a:moveTo>
                  <a:lnTo>
                    <a:pt x="2367280" y="0"/>
                  </a:lnTo>
                  <a:cubicBezTo>
                    <a:pt x="2504186" y="0"/>
                    <a:pt x="2635631" y="54356"/>
                    <a:pt x="2732405" y="151257"/>
                  </a:cubicBezTo>
                  <a:cubicBezTo>
                    <a:pt x="2829179" y="248158"/>
                    <a:pt x="2883662" y="379476"/>
                    <a:pt x="2883662" y="516382"/>
                  </a:cubicBezTo>
                  <a:cubicBezTo>
                    <a:pt x="2883662" y="801624"/>
                    <a:pt x="2652395" y="1032764"/>
                    <a:pt x="2367280" y="1032764"/>
                  </a:cubicBezTo>
                  <a:lnTo>
                    <a:pt x="516382" y="1032764"/>
                  </a:lnTo>
                  <a:cubicBezTo>
                    <a:pt x="379476" y="1032764"/>
                    <a:pt x="248031" y="978408"/>
                    <a:pt x="151257" y="881507"/>
                  </a:cubicBezTo>
                  <a:cubicBezTo>
                    <a:pt x="54483" y="784606"/>
                    <a:pt x="0" y="653415"/>
                    <a:pt x="0" y="516382"/>
                  </a:cubicBezTo>
                  <a:cubicBezTo>
                    <a:pt x="0" y="379349"/>
                    <a:pt x="54356" y="248158"/>
                    <a:pt x="151257" y="151257"/>
                  </a:cubicBezTo>
                  <a:cubicBezTo>
                    <a:pt x="248158" y="54356"/>
                    <a:pt x="379476" y="0"/>
                    <a:pt x="516382" y="0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1028700" y="5118129"/>
            <a:ext cx="2162738" cy="803571"/>
            <a:chOff x="0" y="0"/>
            <a:chExt cx="2883651" cy="107142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883651" cy="1071428"/>
            </a:xfrm>
            <a:custGeom>
              <a:avLst/>
              <a:gdLst/>
              <a:ahLst/>
              <a:cxnLst/>
              <a:rect l="l" t="t" r="r" b="b"/>
              <a:pathLst>
                <a:path w="2883651" h="1071428">
                  <a:moveTo>
                    <a:pt x="0" y="0"/>
                  </a:moveTo>
                  <a:lnTo>
                    <a:pt x="2883651" y="0"/>
                  </a:lnTo>
                  <a:lnTo>
                    <a:pt x="2883651" y="1071428"/>
                  </a:lnTo>
                  <a:lnTo>
                    <a:pt x="0" y="10714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19050"/>
              <a:ext cx="2883651" cy="10904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Generic Approaches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980323" y="4343287"/>
            <a:ext cx="28575" cy="870648"/>
            <a:chOff x="0" y="0"/>
            <a:chExt cx="38100" cy="1160864"/>
          </a:xfrm>
        </p:grpSpPr>
        <p:sp>
          <p:nvSpPr>
            <p:cNvPr id="39" name="Freeform 39"/>
            <p:cNvSpPr/>
            <p:nvPr/>
          </p:nvSpPr>
          <p:spPr>
            <a:xfrm>
              <a:off x="0" y="25400"/>
              <a:ext cx="50800" cy="1122807"/>
            </a:xfrm>
            <a:custGeom>
              <a:avLst/>
              <a:gdLst/>
              <a:ahLst/>
              <a:cxnLst/>
              <a:rect l="l" t="t" r="r" b="b"/>
              <a:pathLst>
                <a:path w="50800" h="1122807">
                  <a:moveTo>
                    <a:pt x="50800" y="0"/>
                  </a:moveTo>
                  <a:lnTo>
                    <a:pt x="50800" y="1122807"/>
                  </a:lnTo>
                  <a:lnTo>
                    <a:pt x="0" y="11228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6957921" y="5187309"/>
            <a:ext cx="2162738" cy="774632"/>
            <a:chOff x="0" y="0"/>
            <a:chExt cx="2883651" cy="103284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883662" cy="1032764"/>
            </a:xfrm>
            <a:custGeom>
              <a:avLst/>
              <a:gdLst/>
              <a:ahLst/>
              <a:cxnLst/>
              <a:rect l="l" t="t" r="r" b="b"/>
              <a:pathLst>
                <a:path w="2883662" h="1032764">
                  <a:moveTo>
                    <a:pt x="516382" y="0"/>
                  </a:moveTo>
                  <a:lnTo>
                    <a:pt x="2367280" y="0"/>
                  </a:lnTo>
                  <a:cubicBezTo>
                    <a:pt x="2504186" y="0"/>
                    <a:pt x="2635631" y="54356"/>
                    <a:pt x="2732405" y="151257"/>
                  </a:cubicBezTo>
                  <a:cubicBezTo>
                    <a:pt x="2829179" y="248158"/>
                    <a:pt x="2883662" y="379476"/>
                    <a:pt x="2883662" y="516382"/>
                  </a:cubicBezTo>
                  <a:cubicBezTo>
                    <a:pt x="2883662" y="801624"/>
                    <a:pt x="2652395" y="1032764"/>
                    <a:pt x="2367280" y="1032764"/>
                  </a:cubicBezTo>
                  <a:lnTo>
                    <a:pt x="516382" y="1032764"/>
                  </a:lnTo>
                  <a:cubicBezTo>
                    <a:pt x="379476" y="1032764"/>
                    <a:pt x="248031" y="978408"/>
                    <a:pt x="151257" y="881507"/>
                  </a:cubicBezTo>
                  <a:cubicBezTo>
                    <a:pt x="54483" y="784606"/>
                    <a:pt x="0" y="653415"/>
                    <a:pt x="0" y="516382"/>
                  </a:cubicBezTo>
                  <a:cubicBezTo>
                    <a:pt x="0" y="379349"/>
                    <a:pt x="54356" y="248158"/>
                    <a:pt x="151257" y="151257"/>
                  </a:cubicBezTo>
                  <a:cubicBezTo>
                    <a:pt x="248158" y="54356"/>
                    <a:pt x="379476" y="0"/>
                    <a:pt x="516382" y="0"/>
                  </a:cubicBezTo>
                  <a:close/>
                </a:path>
              </a:pathLst>
            </a:custGeom>
            <a:solidFill>
              <a:srgbClr val="FF6B6B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6957921" y="5158369"/>
            <a:ext cx="2162738" cy="803571"/>
            <a:chOff x="0" y="0"/>
            <a:chExt cx="2883651" cy="1071428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883651" cy="1071428"/>
            </a:xfrm>
            <a:custGeom>
              <a:avLst/>
              <a:gdLst/>
              <a:ahLst/>
              <a:cxnLst/>
              <a:rect l="l" t="t" r="r" b="b"/>
              <a:pathLst>
                <a:path w="2883651" h="1071428">
                  <a:moveTo>
                    <a:pt x="0" y="0"/>
                  </a:moveTo>
                  <a:lnTo>
                    <a:pt x="2883651" y="0"/>
                  </a:lnTo>
                  <a:lnTo>
                    <a:pt x="2883651" y="1071428"/>
                  </a:lnTo>
                  <a:lnTo>
                    <a:pt x="0" y="10714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0" y="-19050"/>
              <a:ext cx="2883651" cy="10904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Personalization Gap</a:t>
              </a:r>
            </a:p>
          </p:txBody>
        </p:sp>
      </p:grpSp>
      <p:sp>
        <p:nvSpPr>
          <p:cNvPr id="45" name="Freeform 45"/>
          <p:cNvSpPr/>
          <p:nvPr/>
        </p:nvSpPr>
        <p:spPr>
          <a:xfrm>
            <a:off x="9624283" y="2530102"/>
            <a:ext cx="8535926" cy="5378080"/>
          </a:xfrm>
          <a:custGeom>
            <a:avLst/>
            <a:gdLst/>
            <a:ahLst/>
            <a:cxnLst/>
            <a:rect l="l" t="t" r="r" b="b"/>
            <a:pathLst>
              <a:path w="8535926" h="5378080">
                <a:moveTo>
                  <a:pt x="0" y="0"/>
                </a:moveTo>
                <a:lnTo>
                  <a:pt x="8535926" y="0"/>
                </a:lnTo>
                <a:lnTo>
                  <a:pt x="8535926" y="5378080"/>
                </a:lnTo>
                <a:lnTo>
                  <a:pt x="0" y="53780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6"/>
          <p:cNvSpPr txBox="1"/>
          <p:nvPr/>
        </p:nvSpPr>
        <p:spPr>
          <a:xfrm>
            <a:off x="9966050" y="2677575"/>
            <a:ext cx="8194159" cy="4743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07"/>
              </a:lnSpc>
            </a:pPr>
            <a:r>
              <a:rPr lang="en-US" sz="2422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🔹Benefits Of The Solution</a:t>
            </a:r>
          </a:p>
          <a:p>
            <a:pPr algn="just">
              <a:lnSpc>
                <a:spcPts val="2908"/>
              </a:lnSpc>
            </a:pPr>
            <a:endParaRPr lang="en-US" sz="2422" b="1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  <a:p>
            <a:pPr algn="just">
              <a:lnSpc>
                <a:spcPts val="2427"/>
              </a:lnSpc>
            </a:pPr>
            <a:r>
              <a:rPr lang="en-US" sz="2023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Generic Approaches:</a:t>
            </a:r>
          </a:p>
          <a:p>
            <a:pPr marL="462558" lvl="2" indent="-154186" algn="just">
              <a:lnSpc>
                <a:spcPts val="2427"/>
              </a:lnSpc>
              <a:buFont typeface="Arial"/>
              <a:buChar char="⚬"/>
            </a:pPr>
            <a:r>
              <a:rPr lang="en-US" sz="202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Most retail investors use generic tools that lack personal context.</a:t>
            </a:r>
          </a:p>
          <a:p>
            <a:pPr marL="462558" lvl="2" indent="-154186" algn="just">
              <a:lnSpc>
                <a:spcPts val="2427"/>
              </a:lnSpc>
              <a:buFont typeface="Arial"/>
              <a:buChar char="⚬"/>
            </a:pPr>
            <a:r>
              <a:rPr lang="en-US" sz="202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These tools often ignore individual risk assessment.</a:t>
            </a:r>
          </a:p>
          <a:p>
            <a:pPr marL="462558" lvl="2" indent="-154186" algn="just">
              <a:lnSpc>
                <a:spcPts val="2427"/>
              </a:lnSpc>
            </a:pPr>
            <a:endParaRPr lang="en-US" sz="2023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marL="462558" lvl="2" indent="-154186" algn="just">
              <a:lnSpc>
                <a:spcPts val="2427"/>
              </a:lnSpc>
            </a:pPr>
            <a:r>
              <a:rPr lang="en-US" sz="202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2023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Limited Actionability:</a:t>
            </a:r>
          </a:p>
          <a:p>
            <a:pPr marL="462558" lvl="2" indent="-154186" algn="just">
              <a:lnSpc>
                <a:spcPts val="2427"/>
              </a:lnSpc>
              <a:buFont typeface="Arial"/>
              <a:buChar char="⚬"/>
            </a:pPr>
            <a:r>
              <a:rPr lang="en-US" sz="202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Existing models primarily focus on predicting price movements.</a:t>
            </a:r>
          </a:p>
          <a:p>
            <a:pPr marL="462558" lvl="2" indent="-154186" algn="just">
              <a:lnSpc>
                <a:spcPts val="2427"/>
              </a:lnSpc>
              <a:buFont typeface="Arial"/>
              <a:buChar char="⚬"/>
            </a:pPr>
            <a:r>
              <a:rPr lang="en-US" sz="202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They often fail to provide personalized, actionable trading advice.</a:t>
            </a:r>
          </a:p>
          <a:p>
            <a:pPr marL="462558" lvl="2" indent="-154186" algn="just">
              <a:lnSpc>
                <a:spcPts val="2427"/>
              </a:lnSpc>
              <a:buFont typeface="Arial"/>
              <a:buChar char="⚬"/>
            </a:pPr>
            <a:r>
              <a:rPr lang="en-US" sz="202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This results in a lack of customized trading decisions.</a:t>
            </a:r>
          </a:p>
          <a:p>
            <a:pPr marL="462558" lvl="2" indent="-154186" algn="just">
              <a:lnSpc>
                <a:spcPts val="2427"/>
              </a:lnSpc>
            </a:pPr>
            <a:endParaRPr lang="en-US" sz="2023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marL="462558" lvl="2" indent="-154186" algn="just">
              <a:lnSpc>
                <a:spcPts val="2427"/>
              </a:lnSpc>
            </a:pPr>
            <a:r>
              <a:rPr lang="en-US" sz="2023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Personalization Gap:</a:t>
            </a:r>
          </a:p>
          <a:p>
            <a:pPr marL="462558" lvl="2" indent="-154186" algn="just">
              <a:lnSpc>
                <a:spcPts val="2427"/>
              </a:lnSpc>
              <a:buFont typeface="Arial"/>
              <a:buChar char="⚬"/>
            </a:pPr>
            <a:r>
              <a:rPr lang="en-US" sz="202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Current systems overlook user-specific factors like investment capital.</a:t>
            </a:r>
          </a:p>
          <a:p>
            <a:pPr marL="462558" lvl="2" indent="-154186" algn="just">
              <a:lnSpc>
                <a:spcPts val="2427"/>
              </a:lnSpc>
              <a:buFont typeface="Arial"/>
              <a:buChar char="⚬"/>
            </a:pPr>
            <a:r>
              <a:rPr lang="en-US" sz="202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They disregard individual risk tolerance.</a:t>
            </a:r>
          </a:p>
          <a:p>
            <a:pPr marL="462558" lvl="2" indent="-154186" algn="just">
              <a:lnSpc>
                <a:spcPts val="2427"/>
              </a:lnSpc>
              <a:buFont typeface="Arial"/>
              <a:buChar char="⚬"/>
            </a:pPr>
            <a:r>
              <a:rPr lang="en-US" sz="202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investment horizon of the user is also frequently ignored</a:t>
            </a:r>
          </a:p>
        </p:txBody>
      </p:sp>
      <p:sp>
        <p:nvSpPr>
          <p:cNvPr id="47" name="Freeform 47"/>
          <p:cNvSpPr/>
          <p:nvPr/>
        </p:nvSpPr>
        <p:spPr>
          <a:xfrm>
            <a:off x="305224" y="6120995"/>
            <a:ext cx="8926016" cy="3297395"/>
          </a:xfrm>
          <a:custGeom>
            <a:avLst/>
            <a:gdLst/>
            <a:ahLst/>
            <a:cxnLst/>
            <a:rect l="l" t="t" r="r" b="b"/>
            <a:pathLst>
              <a:path w="8926016" h="3297395">
                <a:moveTo>
                  <a:pt x="0" y="0"/>
                </a:moveTo>
                <a:lnTo>
                  <a:pt x="8926016" y="0"/>
                </a:lnTo>
                <a:lnTo>
                  <a:pt x="8926016" y="3297395"/>
                </a:lnTo>
                <a:lnTo>
                  <a:pt x="0" y="32973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48" name="TextBox 48"/>
          <p:cNvSpPr txBox="1"/>
          <p:nvPr/>
        </p:nvSpPr>
        <p:spPr>
          <a:xfrm>
            <a:off x="305224" y="6277521"/>
            <a:ext cx="9262042" cy="2790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🔹Potential Impact on Target Audience</a:t>
            </a:r>
          </a:p>
          <a:p>
            <a:pPr algn="l">
              <a:lnSpc>
                <a:spcPts val="3847"/>
              </a:lnSpc>
            </a:pPr>
            <a:endParaRPr lang="en-US" sz="2475" b="1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  <a:p>
            <a:pPr marL="472318" lvl="2" indent="-157439" algn="l">
              <a:lnSpc>
                <a:spcPts val="2478"/>
              </a:lnSpc>
              <a:buFont typeface="Arial"/>
              <a:buChar char="⚬"/>
            </a:pPr>
            <a:r>
              <a:rPr lang="en-US" sz="2066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Our Aim:</a:t>
            </a:r>
            <a:r>
              <a:rPr lang="en-US" sz="206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To design and develop Hand&amp;Brain, a personalized stock trading assistant.</a:t>
            </a:r>
          </a:p>
          <a:p>
            <a:pPr marL="472318" lvl="2" indent="-157439" algn="l">
              <a:lnSpc>
                <a:spcPts val="2478"/>
              </a:lnSpc>
              <a:buFont typeface="Arial"/>
              <a:buChar char="⚬"/>
            </a:pPr>
            <a:r>
              <a:rPr lang="en-US" sz="2066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Core Idea: </a:t>
            </a:r>
            <a:r>
              <a:rPr lang="en-US" sz="206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Merge the predictive power of deep learning models with user-specific financial profiles.</a:t>
            </a:r>
          </a:p>
          <a:p>
            <a:pPr marL="472318" lvl="2" indent="-157439" algn="l">
              <a:lnSpc>
                <a:spcPts val="2478"/>
              </a:lnSpc>
              <a:buFont typeface="Arial"/>
              <a:buChar char="⚬"/>
            </a:pPr>
            <a:r>
              <a:rPr lang="en-US" sz="2066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The Goal: </a:t>
            </a:r>
            <a:r>
              <a:rPr lang="en-US" sz="206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Deliver actionable, customized, and risk-aware trading recommendations.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27" b="-2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9739312"/>
            <a:ext cx="18287999" cy="754856"/>
            <a:chOff x="0" y="0"/>
            <a:chExt cx="24383999" cy="10064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E17A4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5882928" y="9855613"/>
            <a:ext cx="7446982" cy="638556"/>
            <a:chOff x="0" y="0"/>
            <a:chExt cx="9929309" cy="85140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929309" cy="851408"/>
            </a:xfrm>
            <a:custGeom>
              <a:avLst/>
              <a:gdLst/>
              <a:ahLst/>
              <a:cxnLst/>
              <a:rect l="l" t="t" r="r" b="b"/>
              <a:pathLst>
                <a:path w="9929309" h="851408">
                  <a:moveTo>
                    <a:pt x="0" y="0"/>
                  </a:moveTo>
                  <a:lnTo>
                    <a:pt x="9929309" y="0"/>
                  </a:lnTo>
                  <a:lnTo>
                    <a:pt x="9929309" y="851408"/>
                  </a:lnTo>
                  <a:lnTo>
                    <a:pt x="0" y="8514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9929309" cy="8895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Hand&amp;Brain — Personalized Stock Trading Assistant | Divyanshu Saini</a:t>
              </a:r>
            </a:p>
            <a:p>
              <a:pPr algn="ctr">
                <a:lnSpc>
                  <a:spcPts val="2160"/>
                </a:lnSpc>
              </a:pPr>
              <a:endParaRPr lang="en-US" sz="18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403009" y="9710737"/>
            <a:ext cx="4267200" cy="576262"/>
            <a:chOff x="0" y="0"/>
            <a:chExt cx="5689600" cy="7683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689600" cy="768350"/>
            </a:xfrm>
            <a:custGeom>
              <a:avLst/>
              <a:gdLst/>
              <a:ahLst/>
              <a:cxnLst/>
              <a:rect l="l" t="t" r="r" b="b"/>
              <a:pathLst>
                <a:path w="5689600" h="768350">
                  <a:moveTo>
                    <a:pt x="0" y="0"/>
                  </a:moveTo>
                  <a:lnTo>
                    <a:pt x="5689600" y="0"/>
                  </a:lnTo>
                  <a:lnTo>
                    <a:pt x="5689600" y="768350"/>
                  </a:lnTo>
                  <a:lnTo>
                    <a:pt x="0" y="7683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5689600" cy="787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4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469767" y="-6404385"/>
            <a:ext cx="8214637" cy="8229600"/>
            <a:chOff x="0" y="0"/>
            <a:chExt cx="10952849" cy="1097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952861" cy="10972800"/>
            </a:xfrm>
            <a:custGeom>
              <a:avLst/>
              <a:gdLst/>
              <a:ahLst/>
              <a:cxnLst/>
              <a:rect l="l" t="t" r="r" b="b"/>
              <a:pathLst>
                <a:path w="10952861" h="10972800">
                  <a:moveTo>
                    <a:pt x="0" y="0"/>
                  </a:moveTo>
                  <a:lnTo>
                    <a:pt x="10952861" y="0"/>
                  </a:lnTo>
                  <a:lnTo>
                    <a:pt x="10952861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" b="-4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028700" y="1089342"/>
            <a:ext cx="7251805" cy="1170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8"/>
              </a:lnSpc>
            </a:pPr>
            <a:r>
              <a:rPr lang="en-US" sz="6398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Literature Review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90600" y="931842"/>
            <a:ext cx="1380049" cy="76200"/>
            <a:chOff x="0" y="0"/>
            <a:chExt cx="1840066" cy="101600"/>
          </a:xfrm>
        </p:grpSpPr>
        <p:sp>
          <p:nvSpPr>
            <p:cNvPr id="16" name="Freeform 16"/>
            <p:cNvSpPr/>
            <p:nvPr/>
          </p:nvSpPr>
          <p:spPr>
            <a:xfrm>
              <a:off x="67691" y="0"/>
              <a:ext cx="1738503" cy="135509"/>
            </a:xfrm>
            <a:custGeom>
              <a:avLst/>
              <a:gdLst/>
              <a:ahLst/>
              <a:cxnLst/>
              <a:rect l="l" t="t" r="r" b="b"/>
              <a:pathLst>
                <a:path w="1738503" h="135509">
                  <a:moveTo>
                    <a:pt x="0" y="0"/>
                  </a:moveTo>
                  <a:lnTo>
                    <a:pt x="1738503" y="0"/>
                  </a:lnTo>
                  <a:lnTo>
                    <a:pt x="1738503" y="135509"/>
                  </a:lnTo>
                  <a:lnTo>
                    <a:pt x="0" y="1355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7" name="Freeform 17"/>
          <p:cNvSpPr/>
          <p:nvPr/>
        </p:nvSpPr>
        <p:spPr>
          <a:xfrm>
            <a:off x="162020" y="2553186"/>
            <a:ext cx="8659184" cy="2786238"/>
          </a:xfrm>
          <a:custGeom>
            <a:avLst/>
            <a:gdLst/>
            <a:ahLst/>
            <a:cxnLst/>
            <a:rect l="l" t="t" r="r" b="b"/>
            <a:pathLst>
              <a:path w="8659184" h="2786238">
                <a:moveTo>
                  <a:pt x="0" y="0"/>
                </a:moveTo>
                <a:lnTo>
                  <a:pt x="8659184" y="0"/>
                </a:lnTo>
                <a:lnTo>
                  <a:pt x="8659184" y="2786238"/>
                </a:lnTo>
                <a:lnTo>
                  <a:pt x="0" y="2786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62020" y="2747812"/>
            <a:ext cx="8985165" cy="2159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🔹Literature Review: Existing Models</a:t>
            </a:r>
          </a:p>
          <a:p>
            <a:pPr algn="l">
              <a:lnSpc>
                <a:spcPts val="3847"/>
              </a:lnSpc>
            </a:pPr>
            <a:endParaRPr lang="en-US" sz="2475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472318" lvl="2" indent="-157439" algn="l">
              <a:lnSpc>
                <a:spcPts val="2478"/>
              </a:lnSpc>
              <a:buFont typeface="Arial"/>
              <a:buChar char="⚬"/>
            </a:pPr>
            <a:r>
              <a:rPr lang="en-US" sz="206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Machine Learning: SVM, Random Forest, and XGBoost are effective for feature-driven classification tasks.</a:t>
            </a:r>
          </a:p>
          <a:p>
            <a:pPr marL="472318" lvl="2" indent="-157439" algn="l">
              <a:lnSpc>
                <a:spcPts val="2478"/>
              </a:lnSpc>
              <a:buFont typeface="Arial"/>
              <a:buChar char="⚬"/>
            </a:pPr>
            <a:r>
              <a:rPr lang="en-US" sz="206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Deep Learning: Models like LSTM, CNN, and Transformers excel at sequential data and time-series forecasting.</a:t>
            </a:r>
          </a:p>
        </p:txBody>
      </p:sp>
      <p:graphicFrame>
        <p:nvGraphicFramePr>
          <p:cNvPr id="19" name="Table 19"/>
          <p:cNvGraphicFramePr>
            <a:graphicFrameLocks noGrp="1"/>
          </p:cNvGraphicFramePr>
          <p:nvPr/>
        </p:nvGraphicFramePr>
        <p:xfrm>
          <a:off x="9144000" y="2058677"/>
          <a:ext cx="8940801" cy="6451600"/>
        </p:xfrm>
        <a:graphic>
          <a:graphicData uri="http://schemas.openxmlformats.org/drawingml/2006/table">
            <a:tbl>
              <a:tblPr/>
              <a:tblGrid>
                <a:gridCol w="25640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5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55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55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1290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Strength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Reported 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Remarks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LSTM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Sequential Learning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~89%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Good for time series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290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CNN-LSTM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Combines Spatial &amp; Temporal Features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~92%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Best with RSI, MACD indicators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2900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Transformer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Long-term Forecasting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~95%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High potential, but complex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Freeform 20"/>
          <p:cNvSpPr/>
          <p:nvPr/>
        </p:nvSpPr>
        <p:spPr>
          <a:xfrm>
            <a:off x="332406" y="6272479"/>
            <a:ext cx="8494980" cy="1721326"/>
          </a:xfrm>
          <a:custGeom>
            <a:avLst/>
            <a:gdLst/>
            <a:ahLst/>
            <a:cxnLst/>
            <a:rect l="l" t="t" r="r" b="b"/>
            <a:pathLst>
              <a:path w="8494980" h="1721326">
                <a:moveTo>
                  <a:pt x="0" y="0"/>
                </a:moveTo>
                <a:lnTo>
                  <a:pt x="8494980" y="0"/>
                </a:lnTo>
                <a:lnTo>
                  <a:pt x="8494980" y="1721326"/>
                </a:lnTo>
                <a:lnTo>
                  <a:pt x="0" y="17213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332406" y="6429006"/>
            <a:ext cx="8814779" cy="1197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5841" lvl="2" indent="-188614" algn="l">
              <a:lnSpc>
                <a:spcPts val="2970"/>
              </a:lnSpc>
              <a:buFont typeface="Arial"/>
              <a:buChar char="⚬"/>
            </a:pPr>
            <a:r>
              <a:rPr lang="en-US" sz="2475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🔹Conclusion:</a:t>
            </a:r>
            <a:r>
              <a:rPr lang="en-US" sz="24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The CNN-LSTM model offers the best balance of accuracy, interpretability, and computational efficiency for this task.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709383" y="8915400"/>
            <a:ext cx="6875604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1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You can see the full paper here </a:t>
            </a:r>
          </a:p>
          <a:p>
            <a:pPr algn="ctr">
              <a:lnSpc>
                <a:spcPts val="2399"/>
              </a:lnSpc>
            </a:pPr>
            <a:r>
              <a:rPr lang="en-US" sz="1999" b="1" u="sng">
                <a:solidFill>
                  <a:srgbClr val="0000FF"/>
                </a:solidFill>
                <a:latin typeface="Times New Roman Bold"/>
                <a:ea typeface="Times New Roman Bold"/>
                <a:cs typeface="Times New Roman Bold"/>
                <a:sym typeface="Times New Roman Bold"/>
                <a:hlinkClick r:id="rId8" tooltip="https://www.overleaf.com/read/gybcknjhhrjx#5fa0de"/>
              </a:rPr>
              <a:t>https://www.overleaf.com/read/gybcknjhhrjx#5fa0de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27" b="-2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9739312"/>
            <a:ext cx="18287999" cy="754856"/>
            <a:chOff x="0" y="0"/>
            <a:chExt cx="24383999" cy="10064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E17A4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5882928" y="9855613"/>
            <a:ext cx="7446982" cy="638556"/>
            <a:chOff x="0" y="0"/>
            <a:chExt cx="9929309" cy="85140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929309" cy="851408"/>
            </a:xfrm>
            <a:custGeom>
              <a:avLst/>
              <a:gdLst/>
              <a:ahLst/>
              <a:cxnLst/>
              <a:rect l="l" t="t" r="r" b="b"/>
              <a:pathLst>
                <a:path w="9929309" h="851408">
                  <a:moveTo>
                    <a:pt x="0" y="0"/>
                  </a:moveTo>
                  <a:lnTo>
                    <a:pt x="9929309" y="0"/>
                  </a:lnTo>
                  <a:lnTo>
                    <a:pt x="9929309" y="851408"/>
                  </a:lnTo>
                  <a:lnTo>
                    <a:pt x="0" y="8514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9929309" cy="8895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Hand&amp;Brain — Personalized Stock Trading Assistant | Divyanshu Saini</a:t>
              </a:r>
            </a:p>
            <a:p>
              <a:pPr algn="ctr">
                <a:lnSpc>
                  <a:spcPts val="2160"/>
                </a:lnSpc>
              </a:pPr>
              <a:endParaRPr lang="en-US" sz="18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403009" y="9710737"/>
            <a:ext cx="4267200" cy="576262"/>
            <a:chOff x="0" y="0"/>
            <a:chExt cx="5689600" cy="7683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689600" cy="768350"/>
            </a:xfrm>
            <a:custGeom>
              <a:avLst/>
              <a:gdLst/>
              <a:ahLst/>
              <a:cxnLst/>
              <a:rect l="l" t="t" r="r" b="b"/>
              <a:pathLst>
                <a:path w="5689600" h="768350">
                  <a:moveTo>
                    <a:pt x="0" y="0"/>
                  </a:moveTo>
                  <a:lnTo>
                    <a:pt x="5689600" y="0"/>
                  </a:lnTo>
                  <a:lnTo>
                    <a:pt x="5689600" y="768350"/>
                  </a:lnTo>
                  <a:lnTo>
                    <a:pt x="0" y="7683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5689600" cy="787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5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469767" y="-6404385"/>
            <a:ext cx="8214637" cy="8229600"/>
            <a:chOff x="0" y="0"/>
            <a:chExt cx="10952849" cy="1097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952861" cy="10972800"/>
            </a:xfrm>
            <a:custGeom>
              <a:avLst/>
              <a:gdLst/>
              <a:ahLst/>
              <a:cxnLst/>
              <a:rect l="l" t="t" r="r" b="b"/>
              <a:pathLst>
                <a:path w="10952861" h="10972800">
                  <a:moveTo>
                    <a:pt x="0" y="0"/>
                  </a:moveTo>
                  <a:lnTo>
                    <a:pt x="10952861" y="0"/>
                  </a:lnTo>
                  <a:lnTo>
                    <a:pt x="10952861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" b="-4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028700" y="1089342"/>
            <a:ext cx="7251805" cy="1170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8"/>
              </a:lnSpc>
            </a:pPr>
            <a:r>
              <a:rPr lang="en-US" sz="6398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Problem Statement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90600" y="931842"/>
            <a:ext cx="1380049" cy="76200"/>
            <a:chOff x="0" y="0"/>
            <a:chExt cx="1840066" cy="101600"/>
          </a:xfrm>
        </p:grpSpPr>
        <p:sp>
          <p:nvSpPr>
            <p:cNvPr id="16" name="Freeform 16"/>
            <p:cNvSpPr/>
            <p:nvPr/>
          </p:nvSpPr>
          <p:spPr>
            <a:xfrm>
              <a:off x="67691" y="0"/>
              <a:ext cx="1738503" cy="135509"/>
            </a:xfrm>
            <a:custGeom>
              <a:avLst/>
              <a:gdLst/>
              <a:ahLst/>
              <a:cxnLst/>
              <a:rect l="l" t="t" r="r" b="b"/>
              <a:pathLst>
                <a:path w="1738503" h="135509">
                  <a:moveTo>
                    <a:pt x="0" y="0"/>
                  </a:moveTo>
                  <a:lnTo>
                    <a:pt x="1738503" y="0"/>
                  </a:lnTo>
                  <a:lnTo>
                    <a:pt x="1738503" y="135509"/>
                  </a:lnTo>
                  <a:lnTo>
                    <a:pt x="0" y="1355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7" name="Freeform 17"/>
          <p:cNvSpPr/>
          <p:nvPr/>
        </p:nvSpPr>
        <p:spPr>
          <a:xfrm>
            <a:off x="1192402" y="3691977"/>
            <a:ext cx="15903195" cy="2839542"/>
          </a:xfrm>
          <a:custGeom>
            <a:avLst/>
            <a:gdLst/>
            <a:ahLst/>
            <a:cxnLst/>
            <a:rect l="l" t="t" r="r" b="b"/>
            <a:pathLst>
              <a:path w="15903195" h="2839542">
                <a:moveTo>
                  <a:pt x="0" y="0"/>
                </a:moveTo>
                <a:lnTo>
                  <a:pt x="15903195" y="0"/>
                </a:lnTo>
                <a:lnTo>
                  <a:pt x="15903195" y="2839542"/>
                </a:lnTo>
                <a:lnTo>
                  <a:pt x="0" y="28395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375353" y="3963150"/>
            <a:ext cx="15477958" cy="2113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6"/>
              </a:lnSpc>
            </a:pPr>
            <a:r>
              <a:rPr lang="en-US" sz="434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Current stock prediction tools fail to provide personalized, risk-aware investment recommendations that are aligned with an individual investor's financial profile and goals.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27" b="-2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9739312"/>
            <a:ext cx="18287999" cy="754856"/>
            <a:chOff x="0" y="0"/>
            <a:chExt cx="24383999" cy="10064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E17A4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5882928" y="9855613"/>
            <a:ext cx="7446982" cy="638556"/>
            <a:chOff x="0" y="0"/>
            <a:chExt cx="9929309" cy="85140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929309" cy="851408"/>
            </a:xfrm>
            <a:custGeom>
              <a:avLst/>
              <a:gdLst/>
              <a:ahLst/>
              <a:cxnLst/>
              <a:rect l="l" t="t" r="r" b="b"/>
              <a:pathLst>
                <a:path w="9929309" h="851408">
                  <a:moveTo>
                    <a:pt x="0" y="0"/>
                  </a:moveTo>
                  <a:lnTo>
                    <a:pt x="9929309" y="0"/>
                  </a:lnTo>
                  <a:lnTo>
                    <a:pt x="9929309" y="851408"/>
                  </a:lnTo>
                  <a:lnTo>
                    <a:pt x="0" y="8514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9929309" cy="8895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Hand&amp;Brain — Personalized Stock Trading Assistant | Divyanshu Saini</a:t>
              </a:r>
            </a:p>
            <a:p>
              <a:pPr algn="ctr">
                <a:lnSpc>
                  <a:spcPts val="2160"/>
                </a:lnSpc>
              </a:pPr>
              <a:endParaRPr lang="en-US" sz="18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403009" y="9710737"/>
            <a:ext cx="4267200" cy="576262"/>
            <a:chOff x="0" y="0"/>
            <a:chExt cx="5689600" cy="7683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689600" cy="768350"/>
            </a:xfrm>
            <a:custGeom>
              <a:avLst/>
              <a:gdLst/>
              <a:ahLst/>
              <a:cxnLst/>
              <a:rect l="l" t="t" r="r" b="b"/>
              <a:pathLst>
                <a:path w="5689600" h="768350">
                  <a:moveTo>
                    <a:pt x="0" y="0"/>
                  </a:moveTo>
                  <a:lnTo>
                    <a:pt x="5689600" y="0"/>
                  </a:lnTo>
                  <a:lnTo>
                    <a:pt x="5689600" y="768350"/>
                  </a:lnTo>
                  <a:lnTo>
                    <a:pt x="0" y="7683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5689600" cy="787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6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469767" y="-6404385"/>
            <a:ext cx="8214637" cy="8229600"/>
            <a:chOff x="0" y="0"/>
            <a:chExt cx="10952849" cy="1097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952861" cy="10972800"/>
            </a:xfrm>
            <a:custGeom>
              <a:avLst/>
              <a:gdLst/>
              <a:ahLst/>
              <a:cxnLst/>
              <a:rect l="l" t="t" r="r" b="b"/>
              <a:pathLst>
                <a:path w="10952861" h="10972800">
                  <a:moveTo>
                    <a:pt x="0" y="0"/>
                  </a:moveTo>
                  <a:lnTo>
                    <a:pt x="10952861" y="0"/>
                  </a:lnTo>
                  <a:lnTo>
                    <a:pt x="10952861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" b="-4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028700" y="1089342"/>
            <a:ext cx="4759911" cy="1170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8"/>
              </a:lnSpc>
            </a:pPr>
            <a:r>
              <a:rPr lang="en-US" sz="6398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Objectives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90600" y="931842"/>
            <a:ext cx="932016" cy="76200"/>
            <a:chOff x="0" y="0"/>
            <a:chExt cx="1242688" cy="101600"/>
          </a:xfrm>
        </p:grpSpPr>
        <p:sp>
          <p:nvSpPr>
            <p:cNvPr id="16" name="Freeform 16"/>
            <p:cNvSpPr/>
            <p:nvPr/>
          </p:nvSpPr>
          <p:spPr>
            <a:xfrm>
              <a:off x="67691" y="0"/>
              <a:ext cx="1141095" cy="135509"/>
            </a:xfrm>
            <a:custGeom>
              <a:avLst/>
              <a:gdLst/>
              <a:ahLst/>
              <a:cxnLst/>
              <a:rect l="l" t="t" r="r" b="b"/>
              <a:pathLst>
                <a:path w="1141095" h="135509">
                  <a:moveTo>
                    <a:pt x="0" y="0"/>
                  </a:moveTo>
                  <a:lnTo>
                    <a:pt x="1141095" y="0"/>
                  </a:lnTo>
                  <a:lnTo>
                    <a:pt x="1141095" y="135509"/>
                  </a:lnTo>
                  <a:lnTo>
                    <a:pt x="0" y="1355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7" name="Freeform 17"/>
          <p:cNvSpPr/>
          <p:nvPr/>
        </p:nvSpPr>
        <p:spPr>
          <a:xfrm>
            <a:off x="1028700" y="2464624"/>
            <a:ext cx="13073190" cy="6769008"/>
          </a:xfrm>
          <a:custGeom>
            <a:avLst/>
            <a:gdLst/>
            <a:ahLst/>
            <a:cxnLst/>
            <a:rect l="l" t="t" r="r" b="b"/>
            <a:pathLst>
              <a:path w="13073190" h="6769008">
                <a:moveTo>
                  <a:pt x="0" y="0"/>
                </a:moveTo>
                <a:lnTo>
                  <a:pt x="13073190" y="0"/>
                </a:lnTo>
                <a:lnTo>
                  <a:pt x="13073190" y="6769008"/>
                </a:lnTo>
                <a:lnTo>
                  <a:pt x="0" y="67690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373543" y="2624814"/>
            <a:ext cx="11917658" cy="695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62"/>
              </a:lnSpc>
            </a:pPr>
            <a:r>
              <a:rPr lang="en-US" sz="355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Project Objectives:-</a:t>
            </a:r>
          </a:p>
          <a:p>
            <a:pPr algn="just">
              <a:lnSpc>
                <a:spcPts val="4262"/>
              </a:lnSpc>
            </a:pPr>
            <a:endParaRPr lang="en-US" sz="3551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marL="812030" lvl="2" indent="-270677" algn="just">
              <a:lnSpc>
                <a:spcPts val="4262"/>
              </a:lnSpc>
              <a:buAutoNum type="arabicPeriod"/>
            </a:pPr>
            <a:r>
              <a:rPr lang="en-US" sz="355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analyze and compare various ML/DL models for stock market forecasting.</a:t>
            </a:r>
          </a:p>
          <a:p>
            <a:pPr marL="812030" lvl="2" indent="-270677" algn="just">
              <a:lnSpc>
                <a:spcPts val="4262"/>
              </a:lnSpc>
              <a:buAutoNum type="arabicPeriod"/>
            </a:pPr>
            <a:r>
              <a:rPr lang="en-US" sz="355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develop a CNN-LSTM-based prediction model using technical indicators (RSI, MACD).</a:t>
            </a:r>
          </a:p>
          <a:p>
            <a:pPr marL="812030" lvl="2" indent="-270677" algn="just">
              <a:lnSpc>
                <a:spcPts val="4262"/>
              </a:lnSpc>
              <a:buAutoNum type="arabicPeriod"/>
            </a:pPr>
            <a:r>
              <a:rPr lang="en-US" sz="355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design a data pipeline for fetching and preprocessing live stock data from APIs.</a:t>
            </a:r>
          </a:p>
          <a:p>
            <a:pPr marL="812030" lvl="2" indent="-270677" algn="just">
              <a:lnSpc>
                <a:spcPts val="4262"/>
              </a:lnSpc>
              <a:buAutoNum type="arabicPeriod"/>
            </a:pPr>
            <a:r>
              <a:rPr lang="en-US" sz="355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predict next-month stock trends using 6 months of historical data.</a:t>
            </a:r>
          </a:p>
          <a:p>
            <a:pPr marL="812030" lvl="2" indent="-270677" algn="just">
              <a:lnSpc>
                <a:spcPts val="4262"/>
              </a:lnSpc>
              <a:buAutoNum type="arabicPeriod"/>
            </a:pPr>
            <a:r>
              <a:rPr lang="en-US" sz="355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lay the groundwork for personalized recommendations based on user risk and capital.</a:t>
            </a:r>
          </a:p>
          <a:p>
            <a:pPr marL="812030" lvl="2" indent="-270677" algn="l">
              <a:lnSpc>
                <a:spcPts val="4262"/>
              </a:lnSpc>
            </a:pPr>
            <a:endParaRPr lang="en-US" sz="3551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27" b="-2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9739312"/>
            <a:ext cx="18287999" cy="754856"/>
            <a:chOff x="0" y="0"/>
            <a:chExt cx="24383999" cy="10064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E17A4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5882928" y="9855613"/>
            <a:ext cx="7446982" cy="638556"/>
            <a:chOff x="0" y="0"/>
            <a:chExt cx="9929309" cy="85140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929309" cy="851408"/>
            </a:xfrm>
            <a:custGeom>
              <a:avLst/>
              <a:gdLst/>
              <a:ahLst/>
              <a:cxnLst/>
              <a:rect l="l" t="t" r="r" b="b"/>
              <a:pathLst>
                <a:path w="9929309" h="851408">
                  <a:moveTo>
                    <a:pt x="0" y="0"/>
                  </a:moveTo>
                  <a:lnTo>
                    <a:pt x="9929309" y="0"/>
                  </a:lnTo>
                  <a:lnTo>
                    <a:pt x="9929309" y="851408"/>
                  </a:lnTo>
                  <a:lnTo>
                    <a:pt x="0" y="8514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9929309" cy="8895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Hand&amp;Brain — Personalized Stock Trading Assistant | Divyanshu Saini</a:t>
              </a:r>
            </a:p>
            <a:p>
              <a:pPr algn="ctr">
                <a:lnSpc>
                  <a:spcPts val="2160"/>
                </a:lnSpc>
              </a:pPr>
              <a:endParaRPr lang="en-US" sz="18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403009" y="9710737"/>
            <a:ext cx="4267200" cy="576262"/>
            <a:chOff x="0" y="0"/>
            <a:chExt cx="5689600" cy="7683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689600" cy="768350"/>
            </a:xfrm>
            <a:custGeom>
              <a:avLst/>
              <a:gdLst/>
              <a:ahLst/>
              <a:cxnLst/>
              <a:rect l="l" t="t" r="r" b="b"/>
              <a:pathLst>
                <a:path w="5689600" h="768350">
                  <a:moveTo>
                    <a:pt x="0" y="0"/>
                  </a:moveTo>
                  <a:lnTo>
                    <a:pt x="5689600" y="0"/>
                  </a:lnTo>
                  <a:lnTo>
                    <a:pt x="5689600" y="768350"/>
                  </a:lnTo>
                  <a:lnTo>
                    <a:pt x="0" y="7683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5689600" cy="787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7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469767" y="-6404385"/>
            <a:ext cx="8214637" cy="8229600"/>
            <a:chOff x="0" y="0"/>
            <a:chExt cx="10952849" cy="1097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952861" cy="10972800"/>
            </a:xfrm>
            <a:custGeom>
              <a:avLst/>
              <a:gdLst/>
              <a:ahLst/>
              <a:cxnLst/>
              <a:rect l="l" t="t" r="r" b="b"/>
              <a:pathLst>
                <a:path w="10952861" h="10972800">
                  <a:moveTo>
                    <a:pt x="0" y="0"/>
                  </a:moveTo>
                  <a:lnTo>
                    <a:pt x="10952861" y="0"/>
                  </a:lnTo>
                  <a:lnTo>
                    <a:pt x="10952861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" b="-4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028700" y="1089342"/>
            <a:ext cx="8721384" cy="1170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8"/>
              </a:lnSpc>
            </a:pPr>
            <a:r>
              <a:rPr lang="en-US" sz="6398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Proposed Methodology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90600" y="931842"/>
            <a:ext cx="1644275" cy="76200"/>
            <a:chOff x="0" y="0"/>
            <a:chExt cx="2192367" cy="101600"/>
          </a:xfrm>
        </p:grpSpPr>
        <p:sp>
          <p:nvSpPr>
            <p:cNvPr id="16" name="Freeform 16"/>
            <p:cNvSpPr/>
            <p:nvPr/>
          </p:nvSpPr>
          <p:spPr>
            <a:xfrm>
              <a:off x="67691" y="0"/>
              <a:ext cx="2090801" cy="135509"/>
            </a:xfrm>
            <a:custGeom>
              <a:avLst/>
              <a:gdLst/>
              <a:ahLst/>
              <a:cxnLst/>
              <a:rect l="l" t="t" r="r" b="b"/>
              <a:pathLst>
                <a:path w="2090801" h="135509">
                  <a:moveTo>
                    <a:pt x="0" y="0"/>
                  </a:moveTo>
                  <a:lnTo>
                    <a:pt x="2090801" y="0"/>
                  </a:lnTo>
                  <a:lnTo>
                    <a:pt x="2090801" y="135509"/>
                  </a:lnTo>
                  <a:lnTo>
                    <a:pt x="0" y="1355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7" name="Freeform 17"/>
          <p:cNvSpPr/>
          <p:nvPr/>
        </p:nvSpPr>
        <p:spPr>
          <a:xfrm>
            <a:off x="1028700" y="2693542"/>
            <a:ext cx="8115300" cy="6097162"/>
          </a:xfrm>
          <a:custGeom>
            <a:avLst/>
            <a:gdLst/>
            <a:ahLst/>
            <a:cxnLst/>
            <a:rect l="l" t="t" r="r" b="b"/>
            <a:pathLst>
              <a:path w="8115300" h="6097162">
                <a:moveTo>
                  <a:pt x="0" y="0"/>
                </a:moveTo>
                <a:lnTo>
                  <a:pt x="8115300" y="0"/>
                </a:lnTo>
                <a:lnTo>
                  <a:pt x="8115300" y="6097162"/>
                </a:lnTo>
                <a:lnTo>
                  <a:pt x="0" y="60971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242764" y="2802934"/>
            <a:ext cx="7397993" cy="5700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4102" lvl="2" indent="-204701" algn="l">
              <a:lnSpc>
                <a:spcPts val="3224"/>
              </a:lnSpc>
              <a:buAutoNum type="arabicPeriod"/>
            </a:pPr>
            <a:r>
              <a:rPr lang="en-US" sz="268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Data Collection: Fetch live stock data for Indian markets (.NS, .BO) using yfinance and Alpha Vantage APIs.</a:t>
            </a:r>
          </a:p>
          <a:p>
            <a:pPr marL="614102" lvl="2" indent="-204701" algn="l">
              <a:lnSpc>
                <a:spcPts val="3224"/>
              </a:lnSpc>
              <a:buAutoNum type="arabicPeriod"/>
            </a:pPr>
            <a:r>
              <a:rPr lang="en-US" sz="268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Data Preprocessing: Clean data, handle missing values, and normalize prices.</a:t>
            </a:r>
          </a:p>
          <a:p>
            <a:pPr marL="614102" lvl="2" indent="-204701" algn="l">
              <a:lnSpc>
                <a:spcPts val="3224"/>
              </a:lnSpc>
              <a:buAutoNum type="arabicPeriod"/>
            </a:pPr>
            <a:r>
              <a:rPr lang="en-US" sz="268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Generate technical indicators: RSI, MACD, Moving Averages, Bollinger Bands.</a:t>
            </a:r>
          </a:p>
          <a:p>
            <a:pPr marL="614102" lvl="2" indent="-204701" algn="l">
              <a:lnSpc>
                <a:spcPts val="3224"/>
              </a:lnSpc>
              <a:buAutoNum type="arabicPeriod"/>
            </a:pPr>
            <a:r>
              <a:rPr lang="en-US" sz="268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Model Training &amp; Prediction: Implement a CNN-LSTM model for time-series prediction.</a:t>
            </a:r>
          </a:p>
          <a:p>
            <a:pPr marL="614102" lvl="2" indent="-204701" algn="l">
              <a:lnSpc>
                <a:spcPts val="3224"/>
              </a:lnSpc>
              <a:buAutoNum type="arabicPeriod"/>
            </a:pPr>
            <a:r>
              <a:rPr lang="en-US" sz="268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Input: 6 months of historical data (price, volume, indicators).</a:t>
            </a:r>
          </a:p>
          <a:p>
            <a:pPr marL="614102" lvl="2" indent="-204701" algn="l">
              <a:lnSpc>
                <a:spcPts val="3224"/>
              </a:lnSpc>
              <a:buAutoNum type="arabicPeriod"/>
            </a:pPr>
            <a:r>
              <a:rPr lang="en-US" sz="268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Output: Next-month price movement forecast.</a:t>
            </a:r>
          </a:p>
          <a:p>
            <a:pPr marL="614102" lvl="2" indent="-204701" algn="l">
              <a:lnSpc>
                <a:spcPts val="3224"/>
              </a:lnSpc>
              <a:buAutoNum type="arabicPeriod"/>
            </a:pPr>
            <a:r>
              <a:rPr lang="en-US" sz="268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Evaluation: Measure performance using metrics like RMSE, MAE, and Accuracy.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3903189" y="2260282"/>
            <a:ext cx="2162738" cy="774631"/>
            <a:chOff x="0" y="0"/>
            <a:chExt cx="2883651" cy="103284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883662" cy="1032764"/>
            </a:xfrm>
            <a:custGeom>
              <a:avLst/>
              <a:gdLst/>
              <a:ahLst/>
              <a:cxnLst/>
              <a:rect l="l" t="t" r="r" b="b"/>
              <a:pathLst>
                <a:path w="2883662" h="1032764">
                  <a:moveTo>
                    <a:pt x="516382" y="0"/>
                  </a:moveTo>
                  <a:lnTo>
                    <a:pt x="2367280" y="0"/>
                  </a:lnTo>
                  <a:cubicBezTo>
                    <a:pt x="2504186" y="0"/>
                    <a:pt x="2635631" y="54356"/>
                    <a:pt x="2732405" y="151257"/>
                  </a:cubicBezTo>
                  <a:cubicBezTo>
                    <a:pt x="2829179" y="248158"/>
                    <a:pt x="2883662" y="379476"/>
                    <a:pt x="2883662" y="516382"/>
                  </a:cubicBezTo>
                  <a:cubicBezTo>
                    <a:pt x="2883662" y="801624"/>
                    <a:pt x="2652395" y="1032764"/>
                    <a:pt x="2367280" y="1032764"/>
                  </a:cubicBezTo>
                  <a:lnTo>
                    <a:pt x="516382" y="1032764"/>
                  </a:lnTo>
                  <a:cubicBezTo>
                    <a:pt x="379476" y="1032764"/>
                    <a:pt x="248031" y="978408"/>
                    <a:pt x="151257" y="881507"/>
                  </a:cubicBezTo>
                  <a:cubicBezTo>
                    <a:pt x="54483" y="784606"/>
                    <a:pt x="0" y="653415"/>
                    <a:pt x="0" y="516382"/>
                  </a:cubicBezTo>
                  <a:cubicBezTo>
                    <a:pt x="0" y="379349"/>
                    <a:pt x="54356" y="248158"/>
                    <a:pt x="151257" y="151257"/>
                  </a:cubicBezTo>
                  <a:cubicBezTo>
                    <a:pt x="248158" y="54356"/>
                    <a:pt x="379476" y="0"/>
                    <a:pt x="516382" y="0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3903189" y="2231342"/>
            <a:ext cx="2162738" cy="803571"/>
            <a:chOff x="0" y="0"/>
            <a:chExt cx="2883651" cy="107142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883651" cy="1071428"/>
            </a:xfrm>
            <a:custGeom>
              <a:avLst/>
              <a:gdLst/>
              <a:ahLst/>
              <a:cxnLst/>
              <a:rect l="l" t="t" r="r" b="b"/>
              <a:pathLst>
                <a:path w="2883651" h="1071428">
                  <a:moveTo>
                    <a:pt x="0" y="0"/>
                  </a:moveTo>
                  <a:lnTo>
                    <a:pt x="2883651" y="0"/>
                  </a:lnTo>
                  <a:lnTo>
                    <a:pt x="2883651" y="1071428"/>
                  </a:lnTo>
                  <a:lnTo>
                    <a:pt x="0" y="10714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2883651" cy="10904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Data Collection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740451" y="3403431"/>
            <a:ext cx="2162738" cy="774631"/>
            <a:chOff x="0" y="0"/>
            <a:chExt cx="2883651" cy="103284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883662" cy="1032764"/>
            </a:xfrm>
            <a:custGeom>
              <a:avLst/>
              <a:gdLst/>
              <a:ahLst/>
              <a:cxnLst/>
              <a:rect l="l" t="t" r="r" b="b"/>
              <a:pathLst>
                <a:path w="2883662" h="1032764">
                  <a:moveTo>
                    <a:pt x="516382" y="0"/>
                  </a:moveTo>
                  <a:lnTo>
                    <a:pt x="2367280" y="0"/>
                  </a:lnTo>
                  <a:cubicBezTo>
                    <a:pt x="2504186" y="0"/>
                    <a:pt x="2635631" y="54356"/>
                    <a:pt x="2732405" y="151257"/>
                  </a:cubicBezTo>
                  <a:cubicBezTo>
                    <a:pt x="2829179" y="248158"/>
                    <a:pt x="2883662" y="379476"/>
                    <a:pt x="2883662" y="516382"/>
                  </a:cubicBezTo>
                  <a:cubicBezTo>
                    <a:pt x="2883662" y="801624"/>
                    <a:pt x="2652395" y="1032764"/>
                    <a:pt x="2367280" y="1032764"/>
                  </a:cubicBezTo>
                  <a:lnTo>
                    <a:pt x="516382" y="1032764"/>
                  </a:lnTo>
                  <a:cubicBezTo>
                    <a:pt x="379476" y="1032764"/>
                    <a:pt x="248031" y="978408"/>
                    <a:pt x="151257" y="881507"/>
                  </a:cubicBezTo>
                  <a:cubicBezTo>
                    <a:pt x="54483" y="784606"/>
                    <a:pt x="0" y="653415"/>
                    <a:pt x="0" y="516382"/>
                  </a:cubicBezTo>
                  <a:cubicBezTo>
                    <a:pt x="0" y="379349"/>
                    <a:pt x="54356" y="248158"/>
                    <a:pt x="151257" y="151257"/>
                  </a:cubicBezTo>
                  <a:cubicBezTo>
                    <a:pt x="248158" y="54356"/>
                    <a:pt x="379476" y="0"/>
                    <a:pt x="516382" y="0"/>
                  </a:cubicBezTo>
                  <a:close/>
                </a:path>
              </a:pathLst>
            </a:custGeom>
            <a:solidFill>
              <a:srgbClr val="9D4EDD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1740451" y="3374492"/>
            <a:ext cx="2162738" cy="803571"/>
            <a:chOff x="0" y="0"/>
            <a:chExt cx="2883651" cy="107142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883651" cy="1071428"/>
            </a:xfrm>
            <a:custGeom>
              <a:avLst/>
              <a:gdLst/>
              <a:ahLst/>
              <a:cxnLst/>
              <a:rect l="l" t="t" r="r" b="b"/>
              <a:pathLst>
                <a:path w="2883651" h="1071428">
                  <a:moveTo>
                    <a:pt x="0" y="0"/>
                  </a:moveTo>
                  <a:lnTo>
                    <a:pt x="2883651" y="0"/>
                  </a:lnTo>
                  <a:lnTo>
                    <a:pt x="2883651" y="1071428"/>
                  </a:lnTo>
                  <a:lnTo>
                    <a:pt x="0" y="10714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2883651" cy="10904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Data Preprocessing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3903189" y="4682888"/>
            <a:ext cx="2162738" cy="774631"/>
            <a:chOff x="0" y="0"/>
            <a:chExt cx="2883651" cy="103284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883662" cy="1032764"/>
            </a:xfrm>
            <a:custGeom>
              <a:avLst/>
              <a:gdLst/>
              <a:ahLst/>
              <a:cxnLst/>
              <a:rect l="l" t="t" r="r" b="b"/>
              <a:pathLst>
                <a:path w="2883662" h="1032764">
                  <a:moveTo>
                    <a:pt x="516382" y="0"/>
                  </a:moveTo>
                  <a:lnTo>
                    <a:pt x="2367280" y="0"/>
                  </a:lnTo>
                  <a:cubicBezTo>
                    <a:pt x="2504186" y="0"/>
                    <a:pt x="2635631" y="54356"/>
                    <a:pt x="2732405" y="151257"/>
                  </a:cubicBezTo>
                  <a:cubicBezTo>
                    <a:pt x="2829179" y="248158"/>
                    <a:pt x="2883662" y="379476"/>
                    <a:pt x="2883662" y="516382"/>
                  </a:cubicBezTo>
                  <a:cubicBezTo>
                    <a:pt x="2883662" y="801624"/>
                    <a:pt x="2652395" y="1032764"/>
                    <a:pt x="2367280" y="1032764"/>
                  </a:cubicBezTo>
                  <a:lnTo>
                    <a:pt x="516382" y="1032764"/>
                  </a:lnTo>
                  <a:cubicBezTo>
                    <a:pt x="379476" y="1032764"/>
                    <a:pt x="248031" y="978408"/>
                    <a:pt x="151257" y="881507"/>
                  </a:cubicBezTo>
                  <a:cubicBezTo>
                    <a:pt x="54483" y="784606"/>
                    <a:pt x="0" y="653415"/>
                    <a:pt x="0" y="516382"/>
                  </a:cubicBezTo>
                  <a:cubicBezTo>
                    <a:pt x="0" y="379349"/>
                    <a:pt x="54356" y="248158"/>
                    <a:pt x="151257" y="151257"/>
                  </a:cubicBezTo>
                  <a:cubicBezTo>
                    <a:pt x="248158" y="54356"/>
                    <a:pt x="379476" y="0"/>
                    <a:pt x="516382" y="0"/>
                  </a:cubicBezTo>
                  <a:close/>
                </a:path>
              </a:pathLst>
            </a:custGeom>
            <a:solidFill>
              <a:srgbClr val="90BE6D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13903189" y="4653948"/>
            <a:ext cx="2162738" cy="803571"/>
            <a:chOff x="0" y="0"/>
            <a:chExt cx="2883651" cy="107142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883651" cy="1071428"/>
            </a:xfrm>
            <a:custGeom>
              <a:avLst/>
              <a:gdLst/>
              <a:ahLst/>
              <a:cxnLst/>
              <a:rect l="l" t="t" r="r" b="b"/>
              <a:pathLst>
                <a:path w="2883651" h="1071428">
                  <a:moveTo>
                    <a:pt x="0" y="0"/>
                  </a:moveTo>
                  <a:lnTo>
                    <a:pt x="2883651" y="0"/>
                  </a:lnTo>
                  <a:lnTo>
                    <a:pt x="2883651" y="1071428"/>
                  </a:lnTo>
                  <a:lnTo>
                    <a:pt x="0" y="10714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2883651" cy="10904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Feature Engineering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740451" y="5828993"/>
            <a:ext cx="2162738" cy="774631"/>
            <a:chOff x="0" y="0"/>
            <a:chExt cx="2883651" cy="103284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883662" cy="1032764"/>
            </a:xfrm>
            <a:custGeom>
              <a:avLst/>
              <a:gdLst/>
              <a:ahLst/>
              <a:cxnLst/>
              <a:rect l="l" t="t" r="r" b="b"/>
              <a:pathLst>
                <a:path w="2883662" h="1032764">
                  <a:moveTo>
                    <a:pt x="516382" y="0"/>
                  </a:moveTo>
                  <a:lnTo>
                    <a:pt x="2367280" y="0"/>
                  </a:lnTo>
                  <a:cubicBezTo>
                    <a:pt x="2504186" y="0"/>
                    <a:pt x="2635631" y="54356"/>
                    <a:pt x="2732405" y="151257"/>
                  </a:cubicBezTo>
                  <a:cubicBezTo>
                    <a:pt x="2829179" y="248158"/>
                    <a:pt x="2883662" y="379476"/>
                    <a:pt x="2883662" y="516382"/>
                  </a:cubicBezTo>
                  <a:cubicBezTo>
                    <a:pt x="2883662" y="801624"/>
                    <a:pt x="2652395" y="1032764"/>
                    <a:pt x="2367280" y="1032764"/>
                  </a:cubicBezTo>
                  <a:lnTo>
                    <a:pt x="516382" y="1032764"/>
                  </a:lnTo>
                  <a:cubicBezTo>
                    <a:pt x="379476" y="1032764"/>
                    <a:pt x="248031" y="978408"/>
                    <a:pt x="151257" y="881507"/>
                  </a:cubicBezTo>
                  <a:cubicBezTo>
                    <a:pt x="54483" y="784606"/>
                    <a:pt x="0" y="653415"/>
                    <a:pt x="0" y="516382"/>
                  </a:cubicBezTo>
                  <a:cubicBezTo>
                    <a:pt x="0" y="379349"/>
                    <a:pt x="54356" y="248158"/>
                    <a:pt x="151257" y="151257"/>
                  </a:cubicBezTo>
                  <a:cubicBezTo>
                    <a:pt x="248158" y="54356"/>
                    <a:pt x="379476" y="0"/>
                    <a:pt x="516382" y="0"/>
                  </a:cubicBezTo>
                  <a:close/>
                </a:path>
              </a:pathLst>
            </a:custGeom>
            <a:solidFill>
              <a:srgbClr val="6C757D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11740451" y="5800054"/>
            <a:ext cx="2162738" cy="803571"/>
            <a:chOff x="0" y="0"/>
            <a:chExt cx="2883651" cy="107142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883651" cy="1071428"/>
            </a:xfrm>
            <a:custGeom>
              <a:avLst/>
              <a:gdLst/>
              <a:ahLst/>
              <a:cxnLst/>
              <a:rect l="l" t="t" r="r" b="b"/>
              <a:pathLst>
                <a:path w="2883651" h="1071428">
                  <a:moveTo>
                    <a:pt x="0" y="0"/>
                  </a:moveTo>
                  <a:lnTo>
                    <a:pt x="2883651" y="0"/>
                  </a:lnTo>
                  <a:lnTo>
                    <a:pt x="2883651" y="1071428"/>
                  </a:lnTo>
                  <a:lnTo>
                    <a:pt x="0" y="10714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19050"/>
              <a:ext cx="2883651" cy="10904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Model Training (CNN-LSTM)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3903189" y="7104786"/>
            <a:ext cx="2162738" cy="774631"/>
            <a:chOff x="0" y="0"/>
            <a:chExt cx="2883651" cy="1032842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883662" cy="1032764"/>
            </a:xfrm>
            <a:custGeom>
              <a:avLst/>
              <a:gdLst/>
              <a:ahLst/>
              <a:cxnLst/>
              <a:rect l="l" t="t" r="r" b="b"/>
              <a:pathLst>
                <a:path w="2883662" h="1032764">
                  <a:moveTo>
                    <a:pt x="516382" y="0"/>
                  </a:moveTo>
                  <a:lnTo>
                    <a:pt x="2367280" y="0"/>
                  </a:lnTo>
                  <a:cubicBezTo>
                    <a:pt x="2504186" y="0"/>
                    <a:pt x="2635631" y="54356"/>
                    <a:pt x="2732405" y="151257"/>
                  </a:cubicBezTo>
                  <a:cubicBezTo>
                    <a:pt x="2829179" y="248158"/>
                    <a:pt x="2883662" y="379476"/>
                    <a:pt x="2883662" y="516382"/>
                  </a:cubicBezTo>
                  <a:cubicBezTo>
                    <a:pt x="2883662" y="801624"/>
                    <a:pt x="2652395" y="1032764"/>
                    <a:pt x="2367280" y="1032764"/>
                  </a:cubicBezTo>
                  <a:lnTo>
                    <a:pt x="516382" y="1032764"/>
                  </a:lnTo>
                  <a:cubicBezTo>
                    <a:pt x="379476" y="1032764"/>
                    <a:pt x="248031" y="978408"/>
                    <a:pt x="151257" y="881507"/>
                  </a:cubicBezTo>
                  <a:cubicBezTo>
                    <a:pt x="54483" y="784606"/>
                    <a:pt x="0" y="653415"/>
                    <a:pt x="0" y="516382"/>
                  </a:cubicBezTo>
                  <a:cubicBezTo>
                    <a:pt x="0" y="379349"/>
                    <a:pt x="54356" y="248158"/>
                    <a:pt x="151257" y="151257"/>
                  </a:cubicBezTo>
                  <a:cubicBezTo>
                    <a:pt x="248158" y="54356"/>
                    <a:pt x="379476" y="0"/>
                    <a:pt x="516382" y="0"/>
                  </a:cubicBezTo>
                  <a:close/>
                </a:path>
              </a:pathLst>
            </a:custGeom>
            <a:solidFill>
              <a:srgbClr val="FF6B6B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13903189" y="7075846"/>
            <a:ext cx="2162738" cy="803571"/>
            <a:chOff x="0" y="0"/>
            <a:chExt cx="2883651" cy="107142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883651" cy="1071428"/>
            </a:xfrm>
            <a:custGeom>
              <a:avLst/>
              <a:gdLst/>
              <a:ahLst/>
              <a:cxnLst/>
              <a:rect l="l" t="t" r="r" b="b"/>
              <a:pathLst>
                <a:path w="2883651" h="1071428">
                  <a:moveTo>
                    <a:pt x="0" y="0"/>
                  </a:moveTo>
                  <a:lnTo>
                    <a:pt x="2883651" y="0"/>
                  </a:lnTo>
                  <a:lnTo>
                    <a:pt x="2883651" y="1071428"/>
                  </a:lnTo>
                  <a:lnTo>
                    <a:pt x="0" y="10714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2883651" cy="10904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Prediction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1740451" y="8250893"/>
            <a:ext cx="2162738" cy="774631"/>
            <a:chOff x="0" y="0"/>
            <a:chExt cx="2883651" cy="103284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883662" cy="1032764"/>
            </a:xfrm>
            <a:custGeom>
              <a:avLst/>
              <a:gdLst/>
              <a:ahLst/>
              <a:cxnLst/>
              <a:rect l="l" t="t" r="r" b="b"/>
              <a:pathLst>
                <a:path w="2883662" h="1032764">
                  <a:moveTo>
                    <a:pt x="516382" y="0"/>
                  </a:moveTo>
                  <a:lnTo>
                    <a:pt x="2367280" y="0"/>
                  </a:lnTo>
                  <a:cubicBezTo>
                    <a:pt x="2504186" y="0"/>
                    <a:pt x="2635631" y="54356"/>
                    <a:pt x="2732405" y="151257"/>
                  </a:cubicBezTo>
                  <a:cubicBezTo>
                    <a:pt x="2829179" y="248158"/>
                    <a:pt x="2883662" y="379476"/>
                    <a:pt x="2883662" y="516382"/>
                  </a:cubicBezTo>
                  <a:cubicBezTo>
                    <a:pt x="2883662" y="801624"/>
                    <a:pt x="2652395" y="1032764"/>
                    <a:pt x="2367280" y="1032764"/>
                  </a:cubicBezTo>
                  <a:lnTo>
                    <a:pt x="516382" y="1032764"/>
                  </a:lnTo>
                  <a:cubicBezTo>
                    <a:pt x="379476" y="1032764"/>
                    <a:pt x="248031" y="978408"/>
                    <a:pt x="151257" y="881507"/>
                  </a:cubicBezTo>
                  <a:cubicBezTo>
                    <a:pt x="54483" y="784606"/>
                    <a:pt x="0" y="653415"/>
                    <a:pt x="0" y="516382"/>
                  </a:cubicBezTo>
                  <a:cubicBezTo>
                    <a:pt x="0" y="379349"/>
                    <a:pt x="54356" y="248158"/>
                    <a:pt x="151257" y="151257"/>
                  </a:cubicBezTo>
                  <a:cubicBezTo>
                    <a:pt x="248158" y="54356"/>
                    <a:pt x="379476" y="0"/>
                    <a:pt x="516382" y="0"/>
                  </a:cubicBezTo>
                  <a:close/>
                </a:path>
              </a:pathLst>
            </a:custGeom>
            <a:solidFill>
              <a:srgbClr val="003566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11740451" y="8221953"/>
            <a:ext cx="2162738" cy="803571"/>
            <a:chOff x="0" y="0"/>
            <a:chExt cx="2883651" cy="1071428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883651" cy="1071428"/>
            </a:xfrm>
            <a:custGeom>
              <a:avLst/>
              <a:gdLst/>
              <a:ahLst/>
              <a:cxnLst/>
              <a:rect l="l" t="t" r="r" b="b"/>
              <a:pathLst>
                <a:path w="2883651" h="1071428">
                  <a:moveTo>
                    <a:pt x="0" y="0"/>
                  </a:moveTo>
                  <a:lnTo>
                    <a:pt x="2883651" y="0"/>
                  </a:lnTo>
                  <a:lnTo>
                    <a:pt x="2883651" y="1071428"/>
                  </a:lnTo>
                  <a:lnTo>
                    <a:pt x="0" y="10714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0" y="-19050"/>
              <a:ext cx="2883651" cy="10904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Evaluation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2802770" y="2628548"/>
            <a:ext cx="38100" cy="793933"/>
            <a:chOff x="0" y="0"/>
            <a:chExt cx="50800" cy="1058578"/>
          </a:xfrm>
        </p:grpSpPr>
        <p:sp>
          <p:nvSpPr>
            <p:cNvPr id="50" name="Freeform 50"/>
            <p:cNvSpPr/>
            <p:nvPr/>
          </p:nvSpPr>
          <p:spPr>
            <a:xfrm>
              <a:off x="0" y="33909"/>
              <a:ext cx="67691" cy="1007745"/>
            </a:xfrm>
            <a:custGeom>
              <a:avLst/>
              <a:gdLst/>
              <a:ahLst/>
              <a:cxnLst/>
              <a:rect l="l" t="t" r="r" b="b"/>
              <a:pathLst>
                <a:path w="67691" h="1007745">
                  <a:moveTo>
                    <a:pt x="67691" y="0"/>
                  </a:moveTo>
                  <a:lnTo>
                    <a:pt x="67691" y="1007745"/>
                  </a:lnTo>
                  <a:lnTo>
                    <a:pt x="0" y="10077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14946459" y="3771697"/>
            <a:ext cx="38100" cy="930241"/>
            <a:chOff x="0" y="0"/>
            <a:chExt cx="50800" cy="1240321"/>
          </a:xfrm>
        </p:grpSpPr>
        <p:sp>
          <p:nvSpPr>
            <p:cNvPr id="52" name="Freeform 52"/>
            <p:cNvSpPr/>
            <p:nvPr/>
          </p:nvSpPr>
          <p:spPr>
            <a:xfrm>
              <a:off x="0" y="33909"/>
              <a:ext cx="67691" cy="1189482"/>
            </a:xfrm>
            <a:custGeom>
              <a:avLst/>
              <a:gdLst/>
              <a:ahLst/>
              <a:cxnLst/>
              <a:rect l="l" t="t" r="r" b="b"/>
              <a:pathLst>
                <a:path w="67691" h="1189482">
                  <a:moveTo>
                    <a:pt x="67691" y="0"/>
                  </a:moveTo>
                  <a:lnTo>
                    <a:pt x="67691" y="1189482"/>
                  </a:lnTo>
                  <a:lnTo>
                    <a:pt x="0" y="1189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12821820" y="5051153"/>
            <a:ext cx="38100" cy="793933"/>
            <a:chOff x="0" y="0"/>
            <a:chExt cx="50800" cy="1058578"/>
          </a:xfrm>
        </p:grpSpPr>
        <p:sp>
          <p:nvSpPr>
            <p:cNvPr id="54" name="Freeform 54"/>
            <p:cNvSpPr/>
            <p:nvPr/>
          </p:nvSpPr>
          <p:spPr>
            <a:xfrm>
              <a:off x="0" y="33909"/>
              <a:ext cx="67691" cy="1007745"/>
            </a:xfrm>
            <a:custGeom>
              <a:avLst/>
              <a:gdLst/>
              <a:ahLst/>
              <a:cxnLst/>
              <a:rect l="l" t="t" r="r" b="b"/>
              <a:pathLst>
                <a:path w="67691" h="1007745">
                  <a:moveTo>
                    <a:pt x="67691" y="0"/>
                  </a:moveTo>
                  <a:lnTo>
                    <a:pt x="67691" y="1007745"/>
                  </a:lnTo>
                  <a:lnTo>
                    <a:pt x="0" y="10077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55" name="Group 55"/>
          <p:cNvGrpSpPr/>
          <p:nvPr/>
        </p:nvGrpSpPr>
        <p:grpSpPr>
          <a:xfrm>
            <a:off x="12840870" y="7473052"/>
            <a:ext cx="38100" cy="793933"/>
            <a:chOff x="0" y="0"/>
            <a:chExt cx="50800" cy="1058578"/>
          </a:xfrm>
        </p:grpSpPr>
        <p:sp>
          <p:nvSpPr>
            <p:cNvPr id="56" name="Freeform 56"/>
            <p:cNvSpPr/>
            <p:nvPr/>
          </p:nvSpPr>
          <p:spPr>
            <a:xfrm>
              <a:off x="0" y="33909"/>
              <a:ext cx="67691" cy="1007745"/>
            </a:xfrm>
            <a:custGeom>
              <a:avLst/>
              <a:gdLst/>
              <a:ahLst/>
              <a:cxnLst/>
              <a:rect l="l" t="t" r="r" b="b"/>
              <a:pathLst>
                <a:path w="67691" h="1007745">
                  <a:moveTo>
                    <a:pt x="67691" y="0"/>
                  </a:moveTo>
                  <a:lnTo>
                    <a:pt x="67691" y="1007745"/>
                  </a:lnTo>
                  <a:lnTo>
                    <a:pt x="0" y="10077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57" name="Group 57"/>
          <p:cNvGrpSpPr/>
          <p:nvPr/>
        </p:nvGrpSpPr>
        <p:grpSpPr>
          <a:xfrm>
            <a:off x="12802770" y="2628548"/>
            <a:ext cx="1119469" cy="38100"/>
            <a:chOff x="0" y="0"/>
            <a:chExt cx="1492626" cy="50800"/>
          </a:xfrm>
        </p:grpSpPr>
        <p:sp>
          <p:nvSpPr>
            <p:cNvPr id="58" name="Freeform 58"/>
            <p:cNvSpPr/>
            <p:nvPr/>
          </p:nvSpPr>
          <p:spPr>
            <a:xfrm>
              <a:off x="33909" y="0"/>
              <a:ext cx="1441831" cy="67691"/>
            </a:xfrm>
            <a:custGeom>
              <a:avLst/>
              <a:gdLst/>
              <a:ahLst/>
              <a:cxnLst/>
              <a:rect l="l" t="t" r="r" b="b"/>
              <a:pathLst>
                <a:path w="1441831" h="67691">
                  <a:moveTo>
                    <a:pt x="0" y="0"/>
                  </a:moveTo>
                  <a:lnTo>
                    <a:pt x="1441831" y="0"/>
                  </a:lnTo>
                  <a:lnTo>
                    <a:pt x="1441831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59" name="Group 59"/>
          <p:cNvGrpSpPr/>
          <p:nvPr/>
        </p:nvGrpSpPr>
        <p:grpSpPr>
          <a:xfrm>
            <a:off x="12821820" y="5032103"/>
            <a:ext cx="1119469" cy="38100"/>
            <a:chOff x="0" y="0"/>
            <a:chExt cx="1492626" cy="50800"/>
          </a:xfrm>
        </p:grpSpPr>
        <p:sp>
          <p:nvSpPr>
            <p:cNvPr id="60" name="Freeform 60"/>
            <p:cNvSpPr/>
            <p:nvPr/>
          </p:nvSpPr>
          <p:spPr>
            <a:xfrm>
              <a:off x="33909" y="0"/>
              <a:ext cx="1441831" cy="67691"/>
            </a:xfrm>
            <a:custGeom>
              <a:avLst/>
              <a:gdLst/>
              <a:ahLst/>
              <a:cxnLst/>
              <a:rect l="l" t="t" r="r" b="b"/>
              <a:pathLst>
                <a:path w="1441831" h="67691">
                  <a:moveTo>
                    <a:pt x="0" y="0"/>
                  </a:moveTo>
                  <a:lnTo>
                    <a:pt x="1441831" y="0"/>
                  </a:lnTo>
                  <a:lnTo>
                    <a:pt x="1441831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61" name="Group 61"/>
          <p:cNvGrpSpPr/>
          <p:nvPr/>
        </p:nvGrpSpPr>
        <p:grpSpPr>
          <a:xfrm>
            <a:off x="12821820" y="7454002"/>
            <a:ext cx="1119469" cy="38100"/>
            <a:chOff x="0" y="0"/>
            <a:chExt cx="1492626" cy="50800"/>
          </a:xfrm>
        </p:grpSpPr>
        <p:sp>
          <p:nvSpPr>
            <p:cNvPr id="62" name="Freeform 62"/>
            <p:cNvSpPr/>
            <p:nvPr/>
          </p:nvSpPr>
          <p:spPr>
            <a:xfrm>
              <a:off x="33909" y="0"/>
              <a:ext cx="1441831" cy="67691"/>
            </a:xfrm>
            <a:custGeom>
              <a:avLst/>
              <a:gdLst/>
              <a:ahLst/>
              <a:cxnLst/>
              <a:rect l="l" t="t" r="r" b="b"/>
              <a:pathLst>
                <a:path w="1441831" h="67691">
                  <a:moveTo>
                    <a:pt x="0" y="0"/>
                  </a:moveTo>
                  <a:lnTo>
                    <a:pt x="1441831" y="0"/>
                  </a:lnTo>
                  <a:lnTo>
                    <a:pt x="1441831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63" name="Group 63"/>
          <p:cNvGrpSpPr/>
          <p:nvPr/>
        </p:nvGrpSpPr>
        <p:grpSpPr>
          <a:xfrm>
            <a:off x="13884139" y="3771697"/>
            <a:ext cx="1100419" cy="38100"/>
            <a:chOff x="0" y="0"/>
            <a:chExt cx="1467226" cy="50800"/>
          </a:xfrm>
        </p:grpSpPr>
        <p:sp>
          <p:nvSpPr>
            <p:cNvPr id="64" name="Freeform 64"/>
            <p:cNvSpPr/>
            <p:nvPr/>
          </p:nvSpPr>
          <p:spPr>
            <a:xfrm>
              <a:off x="33909" y="0"/>
              <a:ext cx="1416431" cy="67691"/>
            </a:xfrm>
            <a:custGeom>
              <a:avLst/>
              <a:gdLst/>
              <a:ahLst/>
              <a:cxnLst/>
              <a:rect l="l" t="t" r="r" b="b"/>
              <a:pathLst>
                <a:path w="1416431" h="67691">
                  <a:moveTo>
                    <a:pt x="0" y="0"/>
                  </a:moveTo>
                  <a:lnTo>
                    <a:pt x="1416431" y="0"/>
                  </a:lnTo>
                  <a:lnTo>
                    <a:pt x="1416431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65" name="Group 65"/>
          <p:cNvGrpSpPr/>
          <p:nvPr/>
        </p:nvGrpSpPr>
        <p:grpSpPr>
          <a:xfrm>
            <a:off x="14965509" y="6197259"/>
            <a:ext cx="38100" cy="930241"/>
            <a:chOff x="0" y="0"/>
            <a:chExt cx="50800" cy="1240321"/>
          </a:xfrm>
        </p:grpSpPr>
        <p:sp>
          <p:nvSpPr>
            <p:cNvPr id="66" name="Freeform 66"/>
            <p:cNvSpPr/>
            <p:nvPr/>
          </p:nvSpPr>
          <p:spPr>
            <a:xfrm>
              <a:off x="0" y="33909"/>
              <a:ext cx="67691" cy="1189482"/>
            </a:xfrm>
            <a:custGeom>
              <a:avLst/>
              <a:gdLst/>
              <a:ahLst/>
              <a:cxnLst/>
              <a:rect l="l" t="t" r="r" b="b"/>
              <a:pathLst>
                <a:path w="67691" h="1189482">
                  <a:moveTo>
                    <a:pt x="67691" y="0"/>
                  </a:moveTo>
                  <a:lnTo>
                    <a:pt x="67691" y="1189482"/>
                  </a:lnTo>
                  <a:lnTo>
                    <a:pt x="0" y="1189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67" name="Group 67"/>
          <p:cNvGrpSpPr/>
          <p:nvPr/>
        </p:nvGrpSpPr>
        <p:grpSpPr>
          <a:xfrm>
            <a:off x="13884139" y="6197259"/>
            <a:ext cx="1119469" cy="38100"/>
            <a:chOff x="0" y="0"/>
            <a:chExt cx="1492626" cy="50800"/>
          </a:xfrm>
        </p:grpSpPr>
        <p:sp>
          <p:nvSpPr>
            <p:cNvPr id="68" name="Freeform 68"/>
            <p:cNvSpPr/>
            <p:nvPr/>
          </p:nvSpPr>
          <p:spPr>
            <a:xfrm>
              <a:off x="33909" y="0"/>
              <a:ext cx="1441831" cy="67691"/>
            </a:xfrm>
            <a:custGeom>
              <a:avLst/>
              <a:gdLst/>
              <a:ahLst/>
              <a:cxnLst/>
              <a:rect l="l" t="t" r="r" b="b"/>
              <a:pathLst>
                <a:path w="1441831" h="67691">
                  <a:moveTo>
                    <a:pt x="0" y="0"/>
                  </a:moveTo>
                  <a:lnTo>
                    <a:pt x="1441831" y="0"/>
                  </a:lnTo>
                  <a:lnTo>
                    <a:pt x="1441831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27" b="-2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9739312"/>
            <a:ext cx="18287999" cy="754856"/>
            <a:chOff x="0" y="0"/>
            <a:chExt cx="24383999" cy="10064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E17A4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5882928" y="9855613"/>
            <a:ext cx="7446982" cy="638556"/>
            <a:chOff x="0" y="0"/>
            <a:chExt cx="9929309" cy="85140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929309" cy="851408"/>
            </a:xfrm>
            <a:custGeom>
              <a:avLst/>
              <a:gdLst/>
              <a:ahLst/>
              <a:cxnLst/>
              <a:rect l="l" t="t" r="r" b="b"/>
              <a:pathLst>
                <a:path w="9929309" h="851408">
                  <a:moveTo>
                    <a:pt x="0" y="0"/>
                  </a:moveTo>
                  <a:lnTo>
                    <a:pt x="9929309" y="0"/>
                  </a:lnTo>
                  <a:lnTo>
                    <a:pt x="9929309" y="851408"/>
                  </a:lnTo>
                  <a:lnTo>
                    <a:pt x="0" y="8514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9929309" cy="8895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Hand&amp;Brain — Personalized Stock Trading Assistant | Divyanshu Saini</a:t>
              </a:r>
            </a:p>
            <a:p>
              <a:pPr algn="ctr">
                <a:lnSpc>
                  <a:spcPts val="2160"/>
                </a:lnSpc>
              </a:pPr>
              <a:endParaRPr lang="en-US" sz="18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403009" y="9710737"/>
            <a:ext cx="4267200" cy="576262"/>
            <a:chOff x="0" y="0"/>
            <a:chExt cx="5689600" cy="7683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689600" cy="768350"/>
            </a:xfrm>
            <a:custGeom>
              <a:avLst/>
              <a:gdLst/>
              <a:ahLst/>
              <a:cxnLst/>
              <a:rect l="l" t="t" r="r" b="b"/>
              <a:pathLst>
                <a:path w="5689600" h="768350">
                  <a:moveTo>
                    <a:pt x="0" y="0"/>
                  </a:moveTo>
                  <a:lnTo>
                    <a:pt x="5689600" y="0"/>
                  </a:lnTo>
                  <a:lnTo>
                    <a:pt x="5689600" y="768350"/>
                  </a:lnTo>
                  <a:lnTo>
                    <a:pt x="0" y="7683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5689600" cy="787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8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469767" y="-6404385"/>
            <a:ext cx="8214637" cy="8229600"/>
            <a:chOff x="0" y="0"/>
            <a:chExt cx="10952849" cy="1097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952861" cy="10972800"/>
            </a:xfrm>
            <a:custGeom>
              <a:avLst/>
              <a:gdLst/>
              <a:ahLst/>
              <a:cxnLst/>
              <a:rect l="l" t="t" r="r" b="b"/>
              <a:pathLst>
                <a:path w="10952861" h="10972800">
                  <a:moveTo>
                    <a:pt x="0" y="0"/>
                  </a:moveTo>
                  <a:lnTo>
                    <a:pt x="10952861" y="0"/>
                  </a:lnTo>
                  <a:lnTo>
                    <a:pt x="10952861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" b="-4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028700" y="1089342"/>
            <a:ext cx="5313665" cy="1170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8"/>
              </a:lnSpc>
            </a:pPr>
            <a:r>
              <a:rPr lang="en-US" sz="6398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Current Status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90600" y="931842"/>
            <a:ext cx="1031579" cy="76200"/>
            <a:chOff x="0" y="0"/>
            <a:chExt cx="1375439" cy="101600"/>
          </a:xfrm>
        </p:grpSpPr>
        <p:sp>
          <p:nvSpPr>
            <p:cNvPr id="16" name="Freeform 16"/>
            <p:cNvSpPr/>
            <p:nvPr/>
          </p:nvSpPr>
          <p:spPr>
            <a:xfrm>
              <a:off x="67691" y="0"/>
              <a:ext cx="1273810" cy="135509"/>
            </a:xfrm>
            <a:custGeom>
              <a:avLst/>
              <a:gdLst/>
              <a:ahLst/>
              <a:cxnLst/>
              <a:rect l="l" t="t" r="r" b="b"/>
              <a:pathLst>
                <a:path w="1273810" h="135509">
                  <a:moveTo>
                    <a:pt x="0" y="0"/>
                  </a:moveTo>
                  <a:lnTo>
                    <a:pt x="1273810" y="0"/>
                  </a:lnTo>
                  <a:lnTo>
                    <a:pt x="1273810" y="135509"/>
                  </a:lnTo>
                  <a:lnTo>
                    <a:pt x="0" y="1355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028700" y="2510955"/>
            <a:ext cx="16307782" cy="6747345"/>
            <a:chOff x="0" y="0"/>
            <a:chExt cx="21743709" cy="899646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743670" cy="8996426"/>
            </a:xfrm>
            <a:custGeom>
              <a:avLst/>
              <a:gdLst/>
              <a:ahLst/>
              <a:cxnLst/>
              <a:rect l="l" t="t" r="r" b="b"/>
              <a:pathLst>
                <a:path w="21743670" h="8996426">
                  <a:moveTo>
                    <a:pt x="0" y="0"/>
                  </a:moveTo>
                  <a:lnTo>
                    <a:pt x="21743670" y="0"/>
                  </a:lnTo>
                  <a:lnTo>
                    <a:pt x="21743670" y="8996426"/>
                  </a:lnTo>
                  <a:lnTo>
                    <a:pt x="0" y="8996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4" b="-35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27" b="-2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9739312"/>
            <a:ext cx="18287999" cy="754856"/>
            <a:chOff x="0" y="0"/>
            <a:chExt cx="24383999" cy="10064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E17A4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5882928" y="9855613"/>
            <a:ext cx="7446982" cy="638556"/>
            <a:chOff x="0" y="0"/>
            <a:chExt cx="9929309" cy="85140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929309" cy="851408"/>
            </a:xfrm>
            <a:custGeom>
              <a:avLst/>
              <a:gdLst/>
              <a:ahLst/>
              <a:cxnLst/>
              <a:rect l="l" t="t" r="r" b="b"/>
              <a:pathLst>
                <a:path w="9929309" h="851408">
                  <a:moveTo>
                    <a:pt x="0" y="0"/>
                  </a:moveTo>
                  <a:lnTo>
                    <a:pt x="9929309" y="0"/>
                  </a:lnTo>
                  <a:lnTo>
                    <a:pt x="9929309" y="851408"/>
                  </a:lnTo>
                  <a:lnTo>
                    <a:pt x="0" y="8514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9929309" cy="8895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Hand&amp;Brain — Personalized Stock Trading Assistant | Divyanshu Saini</a:t>
              </a:r>
            </a:p>
            <a:p>
              <a:pPr algn="ctr">
                <a:lnSpc>
                  <a:spcPts val="2160"/>
                </a:lnSpc>
              </a:pPr>
              <a:endParaRPr lang="en-US" sz="18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403009" y="9710737"/>
            <a:ext cx="4267200" cy="576262"/>
            <a:chOff x="0" y="0"/>
            <a:chExt cx="5689600" cy="7683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689600" cy="768350"/>
            </a:xfrm>
            <a:custGeom>
              <a:avLst/>
              <a:gdLst/>
              <a:ahLst/>
              <a:cxnLst/>
              <a:rect l="l" t="t" r="r" b="b"/>
              <a:pathLst>
                <a:path w="5689600" h="768350">
                  <a:moveTo>
                    <a:pt x="0" y="0"/>
                  </a:moveTo>
                  <a:lnTo>
                    <a:pt x="5689600" y="0"/>
                  </a:lnTo>
                  <a:lnTo>
                    <a:pt x="5689600" y="768350"/>
                  </a:lnTo>
                  <a:lnTo>
                    <a:pt x="0" y="7683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5689600" cy="787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9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469767" y="-6404385"/>
            <a:ext cx="8214637" cy="8229600"/>
            <a:chOff x="0" y="0"/>
            <a:chExt cx="10952849" cy="1097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952861" cy="10972800"/>
            </a:xfrm>
            <a:custGeom>
              <a:avLst/>
              <a:gdLst/>
              <a:ahLst/>
              <a:cxnLst/>
              <a:rect l="l" t="t" r="r" b="b"/>
              <a:pathLst>
                <a:path w="10952861" h="10972800">
                  <a:moveTo>
                    <a:pt x="0" y="0"/>
                  </a:moveTo>
                  <a:lnTo>
                    <a:pt x="10952861" y="0"/>
                  </a:lnTo>
                  <a:lnTo>
                    <a:pt x="10952861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" b="-4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028700" y="1089342"/>
            <a:ext cx="5973911" cy="1170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8"/>
              </a:lnSpc>
            </a:pPr>
            <a:r>
              <a:rPr lang="en-US" sz="6398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Expected Result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90600" y="931842"/>
            <a:ext cx="1150288" cy="76200"/>
            <a:chOff x="0" y="0"/>
            <a:chExt cx="1533718" cy="101600"/>
          </a:xfrm>
        </p:grpSpPr>
        <p:sp>
          <p:nvSpPr>
            <p:cNvPr id="16" name="Freeform 16"/>
            <p:cNvSpPr/>
            <p:nvPr/>
          </p:nvSpPr>
          <p:spPr>
            <a:xfrm>
              <a:off x="67691" y="0"/>
              <a:ext cx="1432179" cy="135509"/>
            </a:xfrm>
            <a:custGeom>
              <a:avLst/>
              <a:gdLst/>
              <a:ahLst/>
              <a:cxnLst/>
              <a:rect l="l" t="t" r="r" b="b"/>
              <a:pathLst>
                <a:path w="1432179" h="135509">
                  <a:moveTo>
                    <a:pt x="0" y="0"/>
                  </a:moveTo>
                  <a:lnTo>
                    <a:pt x="1432179" y="0"/>
                  </a:lnTo>
                  <a:lnTo>
                    <a:pt x="1432179" y="135509"/>
                  </a:lnTo>
                  <a:lnTo>
                    <a:pt x="0" y="1355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7" name="Freeform 17"/>
          <p:cNvSpPr/>
          <p:nvPr/>
        </p:nvSpPr>
        <p:spPr>
          <a:xfrm>
            <a:off x="815718" y="2501018"/>
            <a:ext cx="5546951" cy="4597193"/>
          </a:xfrm>
          <a:custGeom>
            <a:avLst/>
            <a:gdLst/>
            <a:ahLst/>
            <a:cxnLst/>
            <a:rect l="l" t="t" r="r" b="b"/>
            <a:pathLst>
              <a:path w="5546951" h="4597193">
                <a:moveTo>
                  <a:pt x="0" y="0"/>
                </a:moveTo>
                <a:lnTo>
                  <a:pt x="5546951" y="0"/>
                </a:lnTo>
                <a:lnTo>
                  <a:pt x="5546951" y="4597193"/>
                </a:lnTo>
                <a:lnTo>
                  <a:pt x="0" y="45971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962035" y="2615077"/>
            <a:ext cx="5056659" cy="4189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7805" lvl="2" indent="-209268" algn="l">
              <a:lnSpc>
                <a:spcPts val="3294"/>
              </a:lnSpc>
              <a:buAutoNum type="arabicPeriod"/>
            </a:pPr>
            <a:r>
              <a:rPr lang="en-US" sz="274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Model Accuracy: Achieve a predictive accuracy of approximately 92% with the CNN-LSTM model.</a:t>
            </a:r>
          </a:p>
          <a:p>
            <a:pPr marL="627805" lvl="2" indent="-209268" algn="l">
              <a:lnSpc>
                <a:spcPts val="3294"/>
              </a:lnSpc>
              <a:buAutoNum type="arabicPeriod"/>
            </a:pPr>
            <a:r>
              <a:rPr lang="en-US" sz="274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Error Metrics: Target a low Root Mean Square Error (RMSE) of around 0.15.</a:t>
            </a:r>
          </a:p>
          <a:p>
            <a:pPr marL="627805" lvl="2" indent="-209268" algn="l">
              <a:lnSpc>
                <a:spcPts val="3294"/>
              </a:lnSpc>
              <a:buAutoNum type="arabicPeriod"/>
            </a:pPr>
            <a:r>
              <a:rPr lang="en-US" sz="274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Practical Outcome: A reliable forecasting tool for short- to medium-term trades.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575651" y="2260283"/>
            <a:ext cx="11490057" cy="5673216"/>
            <a:chOff x="0" y="0"/>
            <a:chExt cx="15320076" cy="756428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5320138" cy="7564247"/>
            </a:xfrm>
            <a:custGeom>
              <a:avLst/>
              <a:gdLst/>
              <a:ahLst/>
              <a:cxnLst/>
              <a:rect l="l" t="t" r="r" b="b"/>
              <a:pathLst>
                <a:path w="15320138" h="7564247">
                  <a:moveTo>
                    <a:pt x="0" y="0"/>
                  </a:moveTo>
                  <a:lnTo>
                    <a:pt x="15320138" y="0"/>
                  </a:lnTo>
                  <a:lnTo>
                    <a:pt x="15320138" y="7564247"/>
                  </a:lnTo>
                  <a:lnTo>
                    <a:pt x="0" y="75642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3" r="-43"/>
              </a:stretch>
            </a:blipFill>
          </p:spPr>
        </p:sp>
      </p:grpSp>
      <p:sp>
        <p:nvSpPr>
          <p:cNvPr id="21" name="TextBox 21"/>
          <p:cNvSpPr txBox="1"/>
          <p:nvPr/>
        </p:nvSpPr>
        <p:spPr>
          <a:xfrm>
            <a:off x="5205689" y="8915400"/>
            <a:ext cx="7876621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1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Github Link</a:t>
            </a:r>
          </a:p>
          <a:p>
            <a:pPr algn="ctr">
              <a:lnSpc>
                <a:spcPts val="2399"/>
              </a:lnSpc>
            </a:pPr>
            <a:r>
              <a:rPr lang="en-US" sz="1999" b="1" u="sng">
                <a:solidFill>
                  <a:srgbClr val="0000FF"/>
                </a:solidFill>
                <a:latin typeface="Times New Roman Bold"/>
                <a:ea typeface="Times New Roman Bold"/>
                <a:cs typeface="Times New Roman Bold"/>
                <a:sym typeface="Times New Roman Bold"/>
                <a:hlinkClick r:id="rId7" tooltip="https://github.com/DivyanshuSaini2112/Hand-Brain-AI-Stock-Assistant"/>
              </a:rPr>
              <a:t>https://github.com/DivyanshuSaini2112/Hand-Brain-AI-Stock-Assistant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469767" y="8046882"/>
            <a:ext cx="5262443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*Actual image of the result of the code (Fetches Data)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27" b="-2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9739312"/>
            <a:ext cx="18287999" cy="754856"/>
            <a:chOff x="0" y="0"/>
            <a:chExt cx="24383999" cy="10064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E17A4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5882928" y="9855613"/>
            <a:ext cx="7446982" cy="638556"/>
            <a:chOff x="0" y="0"/>
            <a:chExt cx="9929309" cy="85140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929309" cy="851408"/>
            </a:xfrm>
            <a:custGeom>
              <a:avLst/>
              <a:gdLst/>
              <a:ahLst/>
              <a:cxnLst/>
              <a:rect l="l" t="t" r="r" b="b"/>
              <a:pathLst>
                <a:path w="9929309" h="851408">
                  <a:moveTo>
                    <a:pt x="0" y="0"/>
                  </a:moveTo>
                  <a:lnTo>
                    <a:pt x="9929309" y="0"/>
                  </a:lnTo>
                  <a:lnTo>
                    <a:pt x="9929309" y="851408"/>
                  </a:lnTo>
                  <a:lnTo>
                    <a:pt x="0" y="8514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9929309" cy="8895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Hand&amp;Brain — Personalized Stock Trading Assistant | Divyanshu Saini</a:t>
              </a:r>
            </a:p>
            <a:p>
              <a:pPr algn="ctr">
                <a:lnSpc>
                  <a:spcPts val="2160"/>
                </a:lnSpc>
              </a:pPr>
              <a:endParaRPr lang="en-US" sz="18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403009" y="9710737"/>
            <a:ext cx="4267200" cy="576262"/>
            <a:chOff x="0" y="0"/>
            <a:chExt cx="5689600" cy="7683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689600" cy="768350"/>
            </a:xfrm>
            <a:custGeom>
              <a:avLst/>
              <a:gdLst/>
              <a:ahLst/>
              <a:cxnLst/>
              <a:rect l="l" t="t" r="r" b="b"/>
              <a:pathLst>
                <a:path w="5689600" h="768350">
                  <a:moveTo>
                    <a:pt x="0" y="0"/>
                  </a:moveTo>
                  <a:lnTo>
                    <a:pt x="5689600" y="0"/>
                  </a:lnTo>
                  <a:lnTo>
                    <a:pt x="5689600" y="768350"/>
                  </a:lnTo>
                  <a:lnTo>
                    <a:pt x="0" y="7683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5689600" cy="787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10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469767" y="-6404385"/>
            <a:ext cx="8214637" cy="8229600"/>
            <a:chOff x="0" y="0"/>
            <a:chExt cx="10952849" cy="1097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952861" cy="10972800"/>
            </a:xfrm>
            <a:custGeom>
              <a:avLst/>
              <a:gdLst/>
              <a:ahLst/>
              <a:cxnLst/>
              <a:rect l="l" t="t" r="r" b="b"/>
              <a:pathLst>
                <a:path w="10952861" h="10972800">
                  <a:moveTo>
                    <a:pt x="0" y="0"/>
                  </a:moveTo>
                  <a:lnTo>
                    <a:pt x="10952861" y="0"/>
                  </a:lnTo>
                  <a:lnTo>
                    <a:pt x="10952861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" b="-4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028700" y="1089342"/>
            <a:ext cx="4759911" cy="1170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8"/>
              </a:lnSpc>
            </a:pPr>
            <a:r>
              <a:rPr lang="en-US" sz="6398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References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90600" y="931842"/>
            <a:ext cx="932016" cy="76200"/>
            <a:chOff x="0" y="0"/>
            <a:chExt cx="1242688" cy="101600"/>
          </a:xfrm>
        </p:grpSpPr>
        <p:sp>
          <p:nvSpPr>
            <p:cNvPr id="16" name="Freeform 16"/>
            <p:cNvSpPr/>
            <p:nvPr/>
          </p:nvSpPr>
          <p:spPr>
            <a:xfrm>
              <a:off x="67691" y="0"/>
              <a:ext cx="1141095" cy="135509"/>
            </a:xfrm>
            <a:custGeom>
              <a:avLst/>
              <a:gdLst/>
              <a:ahLst/>
              <a:cxnLst/>
              <a:rect l="l" t="t" r="r" b="b"/>
              <a:pathLst>
                <a:path w="1141095" h="135509">
                  <a:moveTo>
                    <a:pt x="0" y="0"/>
                  </a:moveTo>
                  <a:lnTo>
                    <a:pt x="1141095" y="0"/>
                  </a:lnTo>
                  <a:lnTo>
                    <a:pt x="1141095" y="135509"/>
                  </a:lnTo>
                  <a:lnTo>
                    <a:pt x="0" y="1355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7" name="Freeform 17"/>
          <p:cNvSpPr/>
          <p:nvPr/>
        </p:nvSpPr>
        <p:spPr>
          <a:xfrm>
            <a:off x="815718" y="2494481"/>
            <a:ext cx="12396013" cy="6798378"/>
          </a:xfrm>
          <a:custGeom>
            <a:avLst/>
            <a:gdLst/>
            <a:ahLst/>
            <a:cxnLst/>
            <a:rect l="l" t="t" r="r" b="b"/>
            <a:pathLst>
              <a:path w="12396013" h="6798378">
                <a:moveTo>
                  <a:pt x="0" y="0"/>
                </a:moveTo>
                <a:lnTo>
                  <a:pt x="12396013" y="0"/>
                </a:lnTo>
                <a:lnTo>
                  <a:pt x="12396013" y="6798378"/>
                </a:lnTo>
                <a:lnTo>
                  <a:pt x="0" y="67983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142699" y="2641918"/>
            <a:ext cx="11300337" cy="6288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4579" lvl="2" indent="-258193" algn="l">
              <a:lnSpc>
                <a:spcPts val="4065"/>
              </a:lnSpc>
              <a:buAutoNum type="arabicPeriod"/>
            </a:pPr>
            <a:r>
              <a:rPr lang="en-US" sz="338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Fischer, T., &amp; Krauss, C. (2018). Deep learning with LSTM networks for stock return prediction. European Journal of Operational Research.</a:t>
            </a:r>
          </a:p>
          <a:p>
            <a:pPr marL="774579" lvl="2" indent="-258193" algn="l">
              <a:lnSpc>
                <a:spcPts val="4065"/>
              </a:lnSpc>
              <a:buAutoNum type="arabicPeriod"/>
            </a:pPr>
            <a:r>
              <a:rPr lang="en-US" sz="338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Saini, A. (2025). A Comparative Review of Machine Learning and Deep Learning Models for Stock Market Price and Trend Prediction. [Journal/Conference Name].</a:t>
            </a:r>
          </a:p>
          <a:p>
            <a:pPr marL="774579" lvl="2" indent="-258193" algn="l">
              <a:lnSpc>
                <a:spcPts val="4065"/>
              </a:lnSpc>
              <a:buAutoNum type="arabicPeriod"/>
            </a:pPr>
            <a:r>
              <a:rPr lang="en-US" sz="338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Yahoo Finance API Documentation. Retrieved from </a:t>
            </a:r>
            <a:r>
              <a:rPr lang="en-US" sz="3387" u="sng">
                <a:solidFill>
                  <a:srgbClr val="0000FF"/>
                </a:solidFill>
                <a:latin typeface="Times New Roman MT"/>
                <a:ea typeface="Times New Roman MT"/>
                <a:cs typeface="Times New Roman MT"/>
                <a:sym typeface="Times New Roman MT"/>
                <a:hlinkClick r:id="rId6" tooltip="https://python-yahoofinance.readthedocs.io/en/latest/api.html"/>
              </a:rPr>
              <a:t>https://python-yahoofinance.readthedocs.io/en/latest/api.html</a:t>
            </a:r>
          </a:p>
          <a:p>
            <a:pPr marL="774579" lvl="2" indent="-258193" algn="l">
              <a:lnSpc>
                <a:spcPts val="4065"/>
              </a:lnSpc>
              <a:buAutoNum type="arabicPeriod"/>
            </a:pPr>
            <a:r>
              <a:rPr lang="en-US" sz="338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Zhang, Y. et al. (2023). Deep Learning Models for Stock Price Prediction. Journal of Finance and Data Science.</a:t>
            </a:r>
          </a:p>
          <a:p>
            <a:pPr marL="774579" lvl="2" indent="-258193" algn="l">
              <a:lnSpc>
                <a:spcPts val="4065"/>
              </a:lnSpc>
              <a:buAutoNum type="arabicPeriod"/>
            </a:pPr>
            <a:r>
              <a:rPr lang="en-US" sz="338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Alpha Vantage API Documentation.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27" b="-2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7368108" y="4490328"/>
            <a:ext cx="4705987" cy="1842102"/>
            <a:chOff x="0" y="0"/>
            <a:chExt cx="6274649" cy="24561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274649" cy="2456135"/>
            </a:xfrm>
            <a:custGeom>
              <a:avLst/>
              <a:gdLst/>
              <a:ahLst/>
              <a:cxnLst/>
              <a:rect l="l" t="t" r="r" b="b"/>
              <a:pathLst>
                <a:path w="6274649" h="2456135">
                  <a:moveTo>
                    <a:pt x="0" y="0"/>
                  </a:moveTo>
                  <a:lnTo>
                    <a:pt x="6274649" y="0"/>
                  </a:lnTo>
                  <a:lnTo>
                    <a:pt x="6274649" y="2456135"/>
                  </a:lnTo>
                  <a:lnTo>
                    <a:pt x="0" y="24561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38100"/>
              <a:ext cx="6274649" cy="24180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Thank You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739312"/>
            <a:ext cx="18287999" cy="754856"/>
            <a:chOff x="0" y="0"/>
            <a:chExt cx="24383999" cy="100647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E17A47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5882928" y="9855613"/>
            <a:ext cx="7446982" cy="638556"/>
            <a:chOff x="0" y="0"/>
            <a:chExt cx="9929309" cy="85140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929309" cy="851408"/>
            </a:xfrm>
            <a:custGeom>
              <a:avLst/>
              <a:gdLst/>
              <a:ahLst/>
              <a:cxnLst/>
              <a:rect l="l" t="t" r="r" b="b"/>
              <a:pathLst>
                <a:path w="9929309" h="851408">
                  <a:moveTo>
                    <a:pt x="0" y="0"/>
                  </a:moveTo>
                  <a:lnTo>
                    <a:pt x="9929309" y="0"/>
                  </a:lnTo>
                  <a:lnTo>
                    <a:pt x="9929309" y="851408"/>
                  </a:lnTo>
                  <a:lnTo>
                    <a:pt x="0" y="8514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9929309" cy="8895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Hand&amp;Brain — Personalized Stock Trading Assistant | Divyanshu Saini</a:t>
              </a:r>
            </a:p>
            <a:p>
              <a:pPr algn="ctr">
                <a:lnSpc>
                  <a:spcPts val="2160"/>
                </a:lnSpc>
              </a:pPr>
              <a:endParaRPr lang="en-US" sz="18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403009" y="9710737"/>
            <a:ext cx="4267200" cy="576262"/>
            <a:chOff x="0" y="0"/>
            <a:chExt cx="5689600" cy="7683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689600" cy="768350"/>
            </a:xfrm>
            <a:custGeom>
              <a:avLst/>
              <a:gdLst/>
              <a:ahLst/>
              <a:cxnLst/>
              <a:rect l="l" t="t" r="r" b="b"/>
              <a:pathLst>
                <a:path w="5689600" h="768350">
                  <a:moveTo>
                    <a:pt x="0" y="0"/>
                  </a:moveTo>
                  <a:lnTo>
                    <a:pt x="5689600" y="0"/>
                  </a:lnTo>
                  <a:lnTo>
                    <a:pt x="5689600" y="768350"/>
                  </a:lnTo>
                  <a:lnTo>
                    <a:pt x="0" y="7683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5689600" cy="787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469767" y="-6404385"/>
            <a:ext cx="8214637" cy="8229600"/>
            <a:chOff x="0" y="0"/>
            <a:chExt cx="10952849" cy="1097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952861" cy="10972800"/>
            </a:xfrm>
            <a:custGeom>
              <a:avLst/>
              <a:gdLst/>
              <a:ahLst/>
              <a:cxnLst/>
              <a:rect l="l" t="t" r="r" b="b"/>
              <a:pathLst>
                <a:path w="10952861" h="10972800">
                  <a:moveTo>
                    <a:pt x="0" y="0"/>
                  </a:moveTo>
                  <a:lnTo>
                    <a:pt x="10952861" y="0"/>
                  </a:lnTo>
                  <a:lnTo>
                    <a:pt x="10952861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" b="-4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854</Words>
  <Application>Microsoft Office PowerPoint</Application>
  <PresentationFormat>Custom</PresentationFormat>
  <Paragraphs>127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Times New Roman MT Bold</vt:lpstr>
      <vt:lpstr>Calibri</vt:lpstr>
      <vt:lpstr>Aptos</vt:lpstr>
      <vt:lpstr>Times New Roman Bold</vt:lpstr>
      <vt:lpstr>DM Serif Display</vt:lpstr>
      <vt:lpstr>Times New Roman</vt:lpstr>
      <vt:lpstr>Arial</vt:lpstr>
      <vt:lpstr>Times New Roman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PBL_3.pptx</dc:title>
  <cp:lastModifiedBy>Divyanshu Saini</cp:lastModifiedBy>
  <cp:revision>2</cp:revision>
  <dcterms:created xsi:type="dcterms:W3CDTF">2006-08-16T00:00:00Z</dcterms:created>
  <dcterms:modified xsi:type="dcterms:W3CDTF">2025-10-15T06:11:50Z</dcterms:modified>
  <dc:identifier>DAG11u7E-W8</dc:identifier>
</cp:coreProperties>
</file>